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 / Project Details" id="{88B5CFDB-E9E0-BA22-A21A-1C0DFB846123}">
          <p14:sldIdLst>
            <p14:sldId id="256"/>
          </p14:sldIdLst>
        </p14:section>
        <p14:section name="Introduction" id="{2083FC1B-89E5-E594-DC7E-8CF48B88ECBF}">
          <p14:sldIdLst>
            <p14:sldId id="257"/>
          </p14:sldIdLst>
        </p14:section>
        <p14:section name="Problem Statement" id="{46F8796D-60C4-9E9B-7F5E-1FD53D4BF3EE}">
          <p14:sldIdLst>
            <p14:sldId id="258"/>
          </p14:sldIdLst>
        </p14:section>
        <p14:section name="Literature Survey" id="{E3065499-117C-A437-5217-AF01C718971B}">
          <p14:sldIdLst>
            <p14:sldId id="259"/>
          </p14:sldIdLst>
        </p14:section>
        <p14:section name="Existing Solution &amp; Gaps Analyzed" id="{44972C59-D186-8190-C775-48076B5D625B}">
          <p14:sldIdLst>
            <p14:sldId id="260"/>
          </p14:sldIdLst>
        </p14:section>
        <p14:section name="Proposed Solution" id="{86CBB368-9E96-A855-7351-ED23B816F032}">
          <p14:sldIdLst>
            <p14:sldId id="261"/>
          </p14:sldIdLst>
        </p14:section>
        <p14:section name="Proposed Work Plan" id="{FE49263E-AAD3-0D57-5393-8D8D1F76A861}">
          <p14:sldIdLst>
            <p14:sldId id="262"/>
          </p14:sldIdLst>
        </p14:section>
        <p14:section name="References" id="{A0566E11-7C42-55DE-83EE-0FF544282AF9}">
          <p14:sldIdLst>
            <p14:sldId id="263"/>
          </p14:sldIdLst>
        </p14:section>
        <p14:section name="Work Progress to Date" id="{486E05EE-F932-1A96-2034-060064EDAEA8}">
          <p14:sldIdLst>
            <p14:sldId id="264"/>
          </p14:sldIdLst>
        </p14:section>
        <p14:section name="Thank You" id="{23E4899C-3D85-62D2-A844-BDD22BBD7688}">
          <p14:sldIdLst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B1240"/>
                </a:solidFill>
                <a:latin typeface="+mn-lt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B1240"/>
                </a:solidFill>
                <a:latin typeface="+mn-lt"/>
              </a:rPr>
              <a:t>Field test: raw ADC by condition</a:t>
            </a:r>
            <a:endParaRPr sz="1200" b="0" i="0" u="none" strike="noStrike">
              <a:solidFill>
                <a:srgbClr val="1B1240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ADC</c:v>
                </c:pt>
              </c:strCache>
            </c:strRef>
          </c:tx>
          <c:spPr>
            <a:solidFill>
              <a:srgbClr val="2FB67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FB6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B67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B67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C94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505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B124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Covered</c:v>
                </c:pt>
                <c:pt idx="1">
                  <c:v>Indoor</c:v>
                </c:pt>
                <c:pt idx="2">
                  <c:v>Window</c:v>
                </c:pt>
                <c:pt idx="3">
                  <c:v>Shade</c:v>
                </c:pt>
                <c:pt idx="4">
                  <c:v>Sunlight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40</c:v>
                </c:pt>
                <c:pt idx="3">
                  <c:v>120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5675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</c:scaling>
        <c:delete val="0"/>
        <c:axPos val="l"/>
        <c:majorGridlines>
          <c:spPr>
            <a:ln w="6350" cap="flat" cmpd="sng" algn="ctr">
              <a:solidFill>
                <a:srgbClr val="E5E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5675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24d6d5f-e8cd-4292-aae0-226831d29d2c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52950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2475309"/>
            <a:ext cx="9753600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979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3B2A8C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5A3"/>
                </a:solidFill>
              </a:rPr>
              <a:t>UV Guard  |  Review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</a:rPr>
              <a:t>PROJECT REVIEW 1  |  UV GUARD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 UV Risk Classification and Ambient Light Monitoring System Using ESP8266 with ThingSpeak Cloud Connectivity</a:t>
            </a:r>
            <a:endParaRPr lang="en-US" sz="26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94360" y="23774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STUDENT NAME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06040"/>
            <a:ext cx="1645920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Pravin A</a:t>
            </a:r>
            <a:endParaRPr lang="en-US" sz="1250" dirty="0">
              <a:solidFill>
                <a:schemeClr val="tx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697480" y="23774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REGISTER NUMBER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606040"/>
            <a:ext cx="1645920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722824106121</a:t>
            </a:r>
            <a:endParaRPr lang="en-US" sz="1250" dirty="0">
              <a:solidFill>
                <a:schemeClr val="tx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800600" y="23774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YEAR / DEPT / SECTION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606040"/>
            <a:ext cx="1645920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II</a:t>
            </a:r>
            <a:r>
              <a:rPr lang="en-IN" altLang="en-US" sz="1250" dirty="0">
                <a:solidFill>
                  <a:schemeClr val="tx1"/>
                </a:solidFill>
              </a:rPr>
              <a:t>I</a:t>
            </a:r>
            <a:r>
              <a:rPr lang="en-US" sz="1250" dirty="0">
                <a:solidFill>
                  <a:schemeClr val="tx1"/>
                </a:solidFill>
              </a:rPr>
              <a:t> Year / ECE / </a:t>
            </a:r>
            <a:r>
              <a:rPr lang="en-IN" altLang="en-US" sz="1250" dirty="0">
                <a:solidFill>
                  <a:schemeClr val="tx1"/>
                </a:solidFill>
              </a:rPr>
              <a:t>C</a:t>
            </a:r>
            <a:endParaRPr lang="en-IN" altLang="en-US" sz="1250" dirty="0">
              <a:solidFill>
                <a:schemeClr val="tx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903720" y="23774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COURSE CODE &amp; NAME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606040"/>
            <a:ext cx="1645920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IN" altLang="en-US" sz="1250" dirty="0">
                <a:solidFill>
                  <a:schemeClr val="tx1"/>
                </a:solidFill>
              </a:rPr>
              <a:t>U23EC492</a:t>
            </a:r>
            <a:r>
              <a:rPr lang="en-US" sz="1250" dirty="0">
                <a:solidFill>
                  <a:schemeClr val="tx1"/>
                </a:solidFill>
              </a:rPr>
              <a:t> - I</a:t>
            </a:r>
            <a:r>
              <a:rPr lang="en-IN" altLang="en-US" sz="1250" dirty="0">
                <a:solidFill>
                  <a:schemeClr val="tx1"/>
                </a:solidFill>
              </a:rPr>
              <a:t>oT and Application</a:t>
            </a:r>
            <a:endParaRPr lang="en-IN" altLang="en-US" sz="1250" dirty="0">
              <a:solidFill>
                <a:schemeClr val="tx1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94360" y="342900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SDG ADDRESSED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657600"/>
            <a:ext cx="2834640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SDG 3 - Good Health &amp; Well-being</a:t>
            </a:r>
            <a:endParaRPr lang="en-US" sz="125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SDG 7 - Affordable &amp; Clean Energy</a:t>
            </a:r>
            <a:endParaRPr lang="en-US" sz="1250" dirty="0">
              <a:solidFill>
                <a:schemeClr val="tx1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3886200" y="342900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TRL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886200" y="3657600"/>
            <a:ext cx="2194560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TRL 4 - Experimental Proof of Concept</a:t>
            </a:r>
            <a:endParaRPr lang="en-US" sz="1250" dirty="0">
              <a:solidFill>
                <a:schemeClr val="tx1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537960" y="34290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REVIEW &amp; DATE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3657600"/>
            <a:ext cx="2011680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Review 1  |  </a:t>
            </a:r>
            <a:endParaRPr lang="en-US" sz="1250" dirty="0">
              <a:solidFill>
                <a:schemeClr val="tx1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Supervisor: Dr. S. Ramalingam, AP/ECE   |   Sri Eshwar College of Engineering, Coimbatore</a:t>
            </a:r>
            <a:endParaRPr lang="en-US" sz="11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2A8C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846320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SzPct val="100000"/>
              <a:buNone/>
            </a:pPr>
            <a:r>
              <a:rPr lang="en-US" sz="1400" b="1" dirty="0">
                <a:solidFill>
                  <a:srgbClr val="3B2A8C"/>
                </a:solidFill>
              </a:rPr>
              <a:t>Invisible risk: </a:t>
            </a:r>
            <a:r>
              <a:rPr lang="en-US" sz="1400" dirty="0">
                <a:solidFill>
                  <a:srgbClr val="1B1240"/>
                </a:solidFill>
              </a:rPr>
              <a:t>UV radiation (100-400 nm) from the Sun cannot be seen or felt, so exposure is easily underestimated.</a:t>
            </a:r>
            <a:endParaRPr lang="en-US" sz="1400" dirty="0"/>
          </a:p>
          <a:p>
            <a:pPr marL="0" indent="0">
              <a:spcAft>
                <a:spcPts val="800"/>
              </a:spcAft>
              <a:buSzPct val="100000"/>
              <a:buNone/>
            </a:pPr>
            <a:r>
              <a:rPr lang="en-US" sz="1400" b="1" dirty="0">
                <a:solidFill>
                  <a:srgbClr val="3B2A8C"/>
                </a:solidFill>
              </a:rPr>
              <a:t>Health impact: </a:t>
            </a:r>
            <a:r>
              <a:rPr lang="en-US" sz="1400" dirty="0">
                <a:solidFill>
                  <a:srgbClr val="1B1240"/>
                </a:solidFill>
              </a:rPr>
              <a:t>sunburn, photokeratitis, premature skin ageing, cataracts and skin cancer.</a:t>
            </a:r>
            <a:endParaRPr lang="en-US" sz="1400" dirty="0"/>
          </a:p>
          <a:p>
            <a:pPr marL="0" indent="0">
              <a:spcAft>
                <a:spcPts val="800"/>
              </a:spcAft>
              <a:buSzPct val="100000"/>
              <a:buNone/>
            </a:pPr>
            <a:r>
              <a:rPr lang="en-US" sz="1400" b="1" dirty="0">
                <a:solidFill>
                  <a:srgbClr val="3B2A8C"/>
                </a:solidFill>
              </a:rPr>
              <a:t>Who is exposed: </a:t>
            </a:r>
            <a:r>
              <a:rPr lang="en-US" sz="1400" dirty="0">
                <a:solidFill>
                  <a:srgbClr val="1B1240"/>
                </a:solidFill>
              </a:rPr>
              <a:t>outdoor workers, students and sports participants in tropical India.</a:t>
            </a:r>
            <a:endParaRPr lang="en-US" sz="1400" dirty="0"/>
          </a:p>
          <a:p>
            <a:pPr marL="0" indent="0">
              <a:spcAft>
                <a:spcPts val="800"/>
              </a:spcAft>
              <a:buSzPct val="100000"/>
              <a:buNone/>
            </a:pPr>
            <a:r>
              <a:rPr lang="en-US" sz="1400" b="1" dirty="0">
                <a:solidFill>
                  <a:srgbClr val="3B2A8C"/>
                </a:solidFill>
              </a:rPr>
              <a:t>Opportunity: </a:t>
            </a:r>
            <a:r>
              <a:rPr lang="en-US" sz="1400" dirty="0">
                <a:solidFill>
                  <a:srgbClr val="1B1240"/>
                </a:solidFill>
              </a:rPr>
              <a:t>an inexpensive analog UV sensor plus the Wi-Fi ESP8266 can warn users where they actually stand.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118872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5675"/>
                </a:solidFill>
              </a:rPr>
              <a:t>WHO GLOBAL SOLAR UV INDEX</a:t>
            </a:r>
            <a:endParaRPr lang="en-US" sz="1100" dirty="0"/>
          </a:p>
        </p:txBody>
      </p:sp>
      <p:sp>
        <p:nvSpPr>
          <p:cNvPr id="5" name="uv-chip"/>
          <p:cNvSpPr/>
          <p:nvPr/>
        </p:nvSpPr>
        <p:spPr>
          <a:xfrm>
            <a:off x="5669280" y="150876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06440" y="150876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0-2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5087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Low</a:t>
            </a:r>
            <a:endParaRPr lang="en-US" sz="1500" dirty="0"/>
          </a:p>
        </p:txBody>
      </p:sp>
      <p:sp>
        <p:nvSpPr>
          <p:cNvPr id="8" name="uv-chip"/>
          <p:cNvSpPr/>
          <p:nvPr/>
        </p:nvSpPr>
        <p:spPr>
          <a:xfrm>
            <a:off x="5669280" y="2039112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06440" y="2039112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240"/>
                </a:solidFill>
              </a:rPr>
              <a:t>3-5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03911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240"/>
                </a:solidFill>
              </a:rPr>
              <a:t>Moderate</a:t>
            </a:r>
            <a:endParaRPr lang="en-US" sz="1500" dirty="0"/>
          </a:p>
        </p:txBody>
      </p:sp>
      <p:sp>
        <p:nvSpPr>
          <p:cNvPr id="11" name="uv-chip"/>
          <p:cNvSpPr/>
          <p:nvPr/>
        </p:nvSpPr>
        <p:spPr>
          <a:xfrm>
            <a:off x="5669280" y="2569464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06440" y="2569464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6-7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569464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High</a:t>
            </a:r>
            <a:endParaRPr lang="en-US" sz="1500" dirty="0"/>
          </a:p>
        </p:txBody>
      </p:sp>
      <p:sp>
        <p:nvSpPr>
          <p:cNvPr id="14" name="uv-chip"/>
          <p:cNvSpPr/>
          <p:nvPr/>
        </p:nvSpPr>
        <p:spPr>
          <a:xfrm>
            <a:off x="5669280" y="3099816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06440" y="3099816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8-10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09981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Very High</a:t>
            </a:r>
            <a:endParaRPr lang="en-US" sz="1500" dirty="0"/>
          </a:p>
        </p:txBody>
      </p:sp>
      <p:sp>
        <p:nvSpPr>
          <p:cNvPr id="20" name="objective-banner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A8C"/>
                </a:solidFill>
              </a:rPr>
              <a:t>Objective: </a:t>
            </a:r>
            <a:r>
              <a:rPr lang="en-US" sz="1300" dirty="0">
                <a:solidFill>
                  <a:srgbClr val="1B1240"/>
                </a:solidFill>
              </a:rPr>
              <a:t>a low-cost, portable device that measures UV, classifies risk and alerts the user locally, with optional cloud monitoring.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2A8C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3" name="problem-row"/>
          <p:cNvSpPr/>
          <p:nvPr/>
        </p:nvSpPr>
        <p:spPr>
          <a:xfrm>
            <a:off x="457200" y="1188720"/>
            <a:ext cx="4937760" cy="566928"/>
          </a:xfrm>
          <a:prstGeom prst="roundRect">
            <a:avLst>
              <a:gd name="adj" fmla="val 16129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num-1"/>
          <p:cNvSpPr/>
          <p:nvPr/>
        </p:nvSpPr>
        <p:spPr>
          <a:xfrm>
            <a:off x="566928" y="1289304"/>
            <a:ext cx="365760" cy="365760"/>
          </a:xfrm>
          <a:prstGeom prst="ellipse">
            <a:avLst/>
          </a:prstGeom>
          <a:solidFill>
            <a:srgbClr val="6C4DE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240"/>
                </a:solidFill>
              </a:rPr>
              <a:t>UV is invisible and heat does not track its intensity, so risk cannot be judged by eye</a:t>
            </a:r>
            <a:endParaRPr lang="en-US" sz="1300" dirty="0"/>
          </a:p>
        </p:txBody>
      </p:sp>
      <p:sp>
        <p:nvSpPr>
          <p:cNvPr id="6" name="problem-row"/>
          <p:cNvSpPr/>
          <p:nvPr/>
        </p:nvSpPr>
        <p:spPr>
          <a:xfrm>
            <a:off x="457200" y="1847088"/>
            <a:ext cx="4937760" cy="566928"/>
          </a:xfrm>
          <a:prstGeom prst="roundRect">
            <a:avLst>
              <a:gd name="adj" fmla="val 16129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num-2"/>
          <p:cNvSpPr/>
          <p:nvPr/>
        </p:nvSpPr>
        <p:spPr>
          <a:xfrm>
            <a:off x="566928" y="1947672"/>
            <a:ext cx="365760" cy="365760"/>
          </a:xfrm>
          <a:prstGeom prst="ellipse">
            <a:avLst/>
          </a:prstGeom>
          <a:solidFill>
            <a:srgbClr val="6C4DE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47088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240"/>
                </a:solidFill>
              </a:rPr>
              <a:t>Weather-app forecasts are regional, not specific to the user's exact spot</a:t>
            </a:r>
            <a:endParaRPr lang="en-US" sz="1300" dirty="0"/>
          </a:p>
        </p:txBody>
      </p:sp>
      <p:sp>
        <p:nvSpPr>
          <p:cNvPr id="9" name="problem-row"/>
          <p:cNvSpPr/>
          <p:nvPr/>
        </p:nvSpPr>
        <p:spPr>
          <a:xfrm>
            <a:off x="457200" y="2505456"/>
            <a:ext cx="4937760" cy="566928"/>
          </a:xfrm>
          <a:prstGeom prst="roundRect">
            <a:avLst>
              <a:gd name="adj" fmla="val 16129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0" name="num-3"/>
          <p:cNvSpPr/>
          <p:nvPr/>
        </p:nvSpPr>
        <p:spPr>
          <a:xfrm>
            <a:off x="566928" y="2606040"/>
            <a:ext cx="365760" cy="365760"/>
          </a:xfrm>
          <a:prstGeom prst="ellipse">
            <a:avLst/>
          </a:prstGeom>
          <a:solidFill>
            <a:srgbClr val="6C4DE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05456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240"/>
                </a:solidFill>
              </a:rPr>
              <a:t>Professional UV meters are costly and show a bare number to interpret</a:t>
            </a:r>
            <a:endParaRPr lang="en-US" sz="1300" dirty="0"/>
          </a:p>
        </p:txBody>
      </p:sp>
      <p:sp>
        <p:nvSpPr>
          <p:cNvPr id="12" name="problem-row"/>
          <p:cNvSpPr/>
          <p:nvPr/>
        </p:nvSpPr>
        <p:spPr>
          <a:xfrm>
            <a:off x="457200" y="3163824"/>
            <a:ext cx="4937760" cy="566928"/>
          </a:xfrm>
          <a:prstGeom prst="roundRect">
            <a:avLst>
              <a:gd name="adj" fmla="val 16129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3" name="num-4"/>
          <p:cNvSpPr/>
          <p:nvPr/>
        </p:nvSpPr>
        <p:spPr>
          <a:xfrm>
            <a:off x="566928" y="3264408"/>
            <a:ext cx="365760" cy="365760"/>
          </a:xfrm>
          <a:prstGeom prst="ellipse">
            <a:avLst/>
          </a:prstGeom>
          <a:solidFill>
            <a:srgbClr val="6C4DE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163824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240"/>
                </a:solidFill>
              </a:rPr>
              <a:t>Hobby builds print raw sensor values with no risk level, advice or light context</a:t>
            </a:r>
            <a:endParaRPr lang="en-US" sz="1300" dirty="0"/>
          </a:p>
        </p:txBody>
      </p:sp>
      <p:sp>
        <p:nvSpPr>
          <p:cNvPr id="15" name="problem-row"/>
          <p:cNvSpPr/>
          <p:nvPr/>
        </p:nvSpPr>
        <p:spPr>
          <a:xfrm>
            <a:off x="457200" y="3822192"/>
            <a:ext cx="4937760" cy="566928"/>
          </a:xfrm>
          <a:prstGeom prst="roundRect">
            <a:avLst>
              <a:gd name="adj" fmla="val 16129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6" name="num-5"/>
          <p:cNvSpPr/>
          <p:nvPr/>
        </p:nvSpPr>
        <p:spPr>
          <a:xfrm>
            <a:off x="566928" y="3922776"/>
            <a:ext cx="365760" cy="365760"/>
          </a:xfrm>
          <a:prstGeom prst="ellipse">
            <a:avLst/>
          </a:prstGeom>
          <a:solidFill>
            <a:srgbClr val="6C4DE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822192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240"/>
                </a:solidFill>
              </a:rPr>
              <a:t>Noisy readings and screen flicker make low-cost displays hard to trust</a:t>
            </a:r>
            <a:endParaRPr lang="en-US" sz="1300" dirty="0"/>
          </a:p>
        </p:txBody>
      </p:sp>
      <p:sp>
        <p:nvSpPr>
          <p:cNvPr id="18" name="core-problem"/>
          <p:cNvSpPr/>
          <p:nvPr/>
        </p:nvSpPr>
        <p:spPr>
          <a:xfrm>
            <a:off x="5669280" y="1188720"/>
            <a:ext cx="3017520" cy="3200400"/>
          </a:xfrm>
          <a:prstGeom prst="roundRect">
            <a:avLst>
              <a:gd name="adj" fmla="val 3030"/>
            </a:avLst>
          </a:prstGeom>
          <a:solidFill>
            <a:srgbClr val="3B2A8C"/>
          </a:solidFill>
          <a:ln w="12700">
            <a:solidFill>
              <a:srgbClr val="3B2A8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897880" y="13716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CORE PROBLEM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1737360"/>
            <a:ext cx="256032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</a:rPr>
              <a:t>Design a low-cost, portable embedded system that continuously measures UV radiation, classifies it into easily understood risk categories, and notifies the user through a display and LEDs, while staying extensible to cloud monitoring.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2A8C"/>
                </a:solidFill>
              </a:rPr>
              <a:t>Literature Survey</a:t>
            </a:r>
            <a:endParaRPr lang="en-US" sz="2800" dirty="0"/>
          </a:p>
        </p:txBody>
      </p:sp>
      <p:sp>
        <p:nvSpPr>
          <p:cNvPr id="3" name="lit-card"/>
          <p:cNvSpPr/>
          <p:nvPr/>
        </p:nvSpPr>
        <p:spPr>
          <a:xfrm>
            <a:off x="457200" y="1188720"/>
            <a:ext cx="1536192" cy="237744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DD8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num-1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rgbClr val="6C4DE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1261872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B2A8C"/>
                </a:solidFill>
              </a:rPr>
              <a:t>Professional UV meters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31720"/>
            <a:ext cx="1261872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675"/>
                </a:solidFill>
              </a:rPr>
              <a:t>Calibrated, erythemal-weighted readings; accurate but costly [1]</a:t>
            </a:r>
            <a:endParaRPr lang="en-US" sz="1150" dirty="0"/>
          </a:p>
        </p:txBody>
      </p:sp>
      <p:sp>
        <p:nvSpPr>
          <p:cNvPr id="7" name="lit-card"/>
          <p:cNvSpPr/>
          <p:nvPr/>
        </p:nvSpPr>
        <p:spPr>
          <a:xfrm>
            <a:off x="2130552" y="1188720"/>
            <a:ext cx="1536192" cy="237744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DD8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num-2"/>
          <p:cNvSpPr/>
          <p:nvPr/>
        </p:nvSpPr>
        <p:spPr>
          <a:xfrm>
            <a:off x="2267712" y="1325880"/>
            <a:ext cx="365760" cy="365760"/>
          </a:xfrm>
          <a:prstGeom prst="ellipse">
            <a:avLst/>
          </a:prstGeom>
          <a:solidFill>
            <a:srgbClr val="6C4DE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1783080"/>
            <a:ext cx="1261872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B2A8C"/>
                </a:solidFill>
              </a:rPr>
              <a:t>Forecast apps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2331720"/>
            <a:ext cx="1261872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675"/>
                </a:solidFill>
              </a:rPr>
              <a:t>UV Index estimated from sun angle, ozone and cloud; free but regional [1]</a:t>
            </a:r>
            <a:endParaRPr lang="en-US" sz="1150" dirty="0"/>
          </a:p>
        </p:txBody>
      </p:sp>
      <p:sp>
        <p:nvSpPr>
          <p:cNvPr id="11" name="lit-card"/>
          <p:cNvSpPr/>
          <p:nvPr/>
        </p:nvSpPr>
        <p:spPr>
          <a:xfrm>
            <a:off x="3803904" y="1188720"/>
            <a:ext cx="1536192" cy="237744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DD8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num-3"/>
          <p:cNvSpPr/>
          <p:nvPr/>
        </p:nvSpPr>
        <p:spPr>
          <a:xfrm>
            <a:off x="3941064" y="1325880"/>
            <a:ext cx="365760" cy="365760"/>
          </a:xfrm>
          <a:prstGeom prst="ellipse">
            <a:avLst/>
          </a:prstGeom>
          <a:solidFill>
            <a:srgbClr val="6C4DE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41064" y="1783080"/>
            <a:ext cx="1261872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B2A8C"/>
                </a:solidFill>
              </a:rPr>
              <a:t>Wearable sensors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941064" y="2331720"/>
            <a:ext cx="1261872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675"/>
                </a:solidFill>
              </a:rPr>
              <a:t>Personal exposure tracking with phone link; accuracy depends on placement</a:t>
            </a:r>
            <a:endParaRPr lang="en-US" sz="1150" dirty="0"/>
          </a:p>
        </p:txBody>
      </p:sp>
      <p:sp>
        <p:nvSpPr>
          <p:cNvPr id="15" name="lit-card"/>
          <p:cNvSpPr/>
          <p:nvPr/>
        </p:nvSpPr>
        <p:spPr>
          <a:xfrm>
            <a:off x="5477256" y="1188720"/>
            <a:ext cx="1536192" cy="237744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DD8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num-4"/>
          <p:cNvSpPr/>
          <p:nvPr/>
        </p:nvSpPr>
        <p:spPr>
          <a:xfrm>
            <a:off x="5614416" y="1325880"/>
            <a:ext cx="365760" cy="365760"/>
          </a:xfrm>
          <a:prstGeom prst="ellipse">
            <a:avLst/>
          </a:prstGeom>
          <a:solidFill>
            <a:srgbClr val="6C4DE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14416" y="1783080"/>
            <a:ext cx="1261872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B2A8C"/>
                </a:solidFill>
              </a:rPr>
              <a:t>Microcontroller monitors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14416" y="2331720"/>
            <a:ext cx="1261872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675"/>
                </a:solidFill>
              </a:rPr>
              <a:t>Arduino/ESP boards with UV sensors; cheap but often uncalibrated raw values</a:t>
            </a:r>
            <a:endParaRPr lang="en-US" sz="1150" dirty="0"/>
          </a:p>
        </p:txBody>
      </p:sp>
      <p:sp>
        <p:nvSpPr>
          <p:cNvPr id="19" name="lit-card"/>
          <p:cNvSpPr/>
          <p:nvPr/>
        </p:nvSpPr>
        <p:spPr>
          <a:xfrm>
            <a:off x="7150608" y="1188720"/>
            <a:ext cx="1536192" cy="237744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DD8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num-5"/>
          <p:cNvSpPr/>
          <p:nvPr/>
        </p:nvSpPr>
        <p:spPr>
          <a:xfrm>
            <a:off x="7287768" y="1325880"/>
            <a:ext cx="365760" cy="365760"/>
          </a:xfrm>
          <a:prstGeom prst="ellipse">
            <a:avLst/>
          </a:prstGeom>
          <a:solidFill>
            <a:srgbClr val="6C4DE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87768" y="1783080"/>
            <a:ext cx="1261872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B2A8C"/>
                </a:solidFill>
              </a:rPr>
              <a:t>IoT weather stations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87768" y="2331720"/>
            <a:ext cx="1261872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675"/>
                </a:solidFill>
              </a:rPr>
              <a:t>Multi-sensor nodes with cloud dashboards; no direct local alert</a:t>
            </a:r>
            <a:endParaRPr lang="en-US" sz="1150" dirty="0"/>
          </a:p>
        </p:txBody>
      </p:sp>
      <p:sp>
        <p:nvSpPr>
          <p:cNvPr id="23" name="alternatives-banner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82219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UV SENSOR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023360"/>
            <a:ext cx="251460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240"/>
                </a:solidFill>
              </a:rPr>
              <a:t>Analog (GUVA-S12SD, ML8511) chosen over I2C digital (VEML6075, LTR390, SI1145) for simplicity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337560" y="382219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CONTROLLER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337560" y="4023360"/>
            <a:ext cx="251460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240"/>
                </a:solidFill>
              </a:rPr>
              <a:t>ESP8266: built-in Wi-Fi at low cost, vs Arduino Uno (no Wi-Fi) and ESP32 (costlier)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035040" y="382219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NOTIFICATION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4023360"/>
            <a:ext cx="251460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240"/>
                </a:solidFill>
              </a:rPr>
              <a:t>Colour TFT plus LEDs preferred over buzzer, OLED or app-only alerts</a:t>
            </a:r>
            <a:endParaRPr lang="en-US" sz="11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2A8C"/>
                </a:solidFill>
              </a:rPr>
              <a:t>Existing Solutions &amp; Gaps Analyzed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188720"/>
          <a:ext cx="8229600" cy="3364992"/>
        </p:xfrm>
        <a:graphic>
          <a:graphicData uri="http://schemas.openxmlformats.org/drawingml/2006/table">
            <a:tbl>
              <a:tblPr/>
              <a:tblGrid>
                <a:gridCol w="2651760"/>
                <a:gridCol w="2560320"/>
                <a:gridCol w="301752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Gap in existing solutions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Effect on the user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UV Guard response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2A8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cost of calibrated meters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Out of reach for schools and small farms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Low-cost parts; Rs. 1,400 total build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Regional forecast only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Local exposure unknown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Measures UV at the device location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Raw numbers, no meaning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Risk is hard to understand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 named levels with colour and advice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immediate local alert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Warning may be missed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Green / red LEDs switch instantly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Noisy readings and flicker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Display looks unreliable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Averaging, hysteresis, partial redraw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Unclear calibration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Misleading UV Index claims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Shown as raw ADC; calibration planned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Network dependence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data when offline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Local alerts work offline; cloud optional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2A8C"/>
                </a:solidFill>
              </a:rPr>
              <a:t>Proposed Solution: UV Guard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5675"/>
                </a:solidFill>
              </a:rPr>
              <a:t>INPUT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10972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5675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109728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5675"/>
                </a:solidFill>
              </a:rPr>
              <a:t>OUTPUT</a:t>
            </a:r>
            <a:endParaRPr lang="en-US" sz="1000" dirty="0"/>
          </a:p>
        </p:txBody>
      </p:sp>
      <p:sp>
        <p:nvSpPr>
          <p:cNvPr id="6" name="block"/>
          <p:cNvSpPr/>
          <p:nvPr/>
        </p:nvSpPr>
        <p:spPr>
          <a:xfrm>
            <a:off x="457200" y="13716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3F0FF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240"/>
                </a:solidFill>
              </a:rPr>
              <a:t>UV Sensor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B1240"/>
                </a:solidFill>
              </a:rPr>
              <a:t>analog output to A0</a:t>
            </a:r>
            <a:endParaRPr lang="en-US" sz="1250" dirty="0"/>
          </a:p>
        </p:txBody>
      </p:sp>
      <p:sp>
        <p:nvSpPr>
          <p:cNvPr id="7" name="block"/>
          <p:cNvSpPr/>
          <p:nvPr/>
        </p:nvSpPr>
        <p:spPr>
          <a:xfrm>
            <a:off x="457200" y="246888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3F0FF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240"/>
                </a:solidFill>
              </a:rPr>
              <a:t>LDR + 10 k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B1240"/>
                </a:solidFill>
              </a:rPr>
              <a:t>bright / dark to D1</a:t>
            </a:r>
            <a:endParaRPr lang="en-US" sz="1250" dirty="0"/>
          </a:p>
        </p:txBody>
      </p:sp>
      <p:sp>
        <p:nvSpPr>
          <p:cNvPr id="8" name="mcu-block"/>
          <p:cNvSpPr/>
          <p:nvPr/>
        </p:nvSpPr>
        <p:spPr>
          <a:xfrm>
            <a:off x="3200400" y="137160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3B2A8C"/>
          </a:solidFill>
          <a:ln w="12700">
            <a:solidFill>
              <a:srgbClr val="3B2A8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291840" y="148132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</a:rPr>
              <a:t>ESP8266 NodeMCU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828800"/>
            <a:ext cx="23774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Sample every 25 ms</a:t>
            </a:r>
            <a:endParaRPr lang="en-US" sz="12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1 s average + smoothing</a:t>
            </a:r>
            <a:endParaRPr lang="en-US" sz="12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4-level classification</a:t>
            </a:r>
            <a:endParaRPr lang="en-US" sz="12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Hysteresis and sensor checks</a:t>
            </a:r>
            <a:endParaRPr lang="en-US" sz="1250" dirty="0"/>
          </a:p>
        </p:txBody>
      </p:sp>
      <p:sp>
        <p:nvSpPr>
          <p:cNvPr id="11" name="block"/>
          <p:cNvSpPr/>
          <p:nvPr/>
        </p:nvSpPr>
        <p:spPr>
          <a:xfrm>
            <a:off x="6675120" y="137160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6C4DE6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1.8" TFT dashboard (SPI)</a:t>
            </a:r>
            <a:endParaRPr lang="en-US" sz="1250" dirty="0"/>
          </a:p>
        </p:txBody>
      </p:sp>
      <p:sp>
        <p:nvSpPr>
          <p:cNvPr id="12" name="block"/>
          <p:cNvSpPr/>
          <p:nvPr/>
        </p:nvSpPr>
        <p:spPr>
          <a:xfrm>
            <a:off x="6675120" y="2048256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6C4DE6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Green / Red LEDs</a:t>
            </a:r>
            <a:endParaRPr lang="en-US" sz="1250" dirty="0"/>
          </a:p>
        </p:txBody>
      </p:sp>
      <p:sp>
        <p:nvSpPr>
          <p:cNvPr id="13" name="block"/>
          <p:cNvSpPr/>
          <p:nvPr/>
        </p:nvSpPr>
        <p:spPr>
          <a:xfrm>
            <a:off x="6675120" y="2724912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6C4DE6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Wi-Fi to ThingSpeak cloud</a:t>
            </a:r>
            <a:endParaRPr lang="en-US" sz="1250" dirty="0"/>
          </a:p>
        </p:txBody>
      </p:sp>
      <p:sp>
        <p:nvSpPr>
          <p:cNvPr id="14" name="arrow"/>
          <p:cNvSpPr/>
          <p:nvPr/>
        </p:nvSpPr>
        <p:spPr>
          <a:xfrm>
            <a:off x="2468880" y="1783080"/>
            <a:ext cx="731520" cy="0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5" name="arrow"/>
          <p:cNvSpPr/>
          <p:nvPr/>
        </p:nvSpPr>
        <p:spPr>
          <a:xfrm>
            <a:off x="2468880" y="2880360"/>
            <a:ext cx="731520" cy="0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6" name="arrow"/>
          <p:cNvSpPr/>
          <p:nvPr/>
        </p:nvSpPr>
        <p:spPr>
          <a:xfrm>
            <a:off x="5943600" y="1655064"/>
            <a:ext cx="731520" cy="0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7" name="arrow"/>
          <p:cNvSpPr/>
          <p:nvPr/>
        </p:nvSpPr>
        <p:spPr>
          <a:xfrm>
            <a:off x="5943600" y="2331720"/>
            <a:ext cx="731520" cy="0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8" name="arrow"/>
          <p:cNvSpPr/>
          <p:nvPr/>
        </p:nvSpPr>
        <p:spPr>
          <a:xfrm>
            <a:off x="5943600" y="3008376"/>
            <a:ext cx="731520" cy="0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9" name="level-chip"/>
          <p:cNvSpPr/>
          <p:nvPr/>
        </p:nvSpPr>
        <p:spPr>
          <a:xfrm>
            <a:off x="457200" y="35204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58444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LOW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93192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ADC &lt; 100  |  Green LED</a:t>
            </a:r>
            <a:endParaRPr lang="en-US" sz="1150" dirty="0"/>
          </a:p>
        </p:txBody>
      </p:sp>
      <p:sp>
        <p:nvSpPr>
          <p:cNvPr id="22" name="level-chip"/>
          <p:cNvSpPr/>
          <p:nvPr/>
        </p:nvSpPr>
        <p:spPr>
          <a:xfrm>
            <a:off x="2560320" y="35204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51760" y="358444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240"/>
                </a:solidFill>
              </a:rPr>
              <a:t>MODERATE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651760" y="393192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240"/>
                </a:solidFill>
              </a:rPr>
              <a:t>ADC 100+  |  Green LED</a:t>
            </a:r>
            <a:endParaRPr lang="en-US" sz="1150" dirty="0"/>
          </a:p>
        </p:txBody>
      </p:sp>
      <p:sp>
        <p:nvSpPr>
          <p:cNvPr id="25" name="level-chip"/>
          <p:cNvSpPr/>
          <p:nvPr/>
        </p:nvSpPr>
        <p:spPr>
          <a:xfrm>
            <a:off x="4663440" y="35204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54880" y="358444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HIGH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393192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ADC 200+  |  Red LED</a:t>
            </a:r>
            <a:endParaRPr lang="en-US" sz="1150" dirty="0"/>
          </a:p>
        </p:txBody>
      </p:sp>
      <p:sp>
        <p:nvSpPr>
          <p:cNvPr id="28" name="level-chip"/>
          <p:cNvSpPr/>
          <p:nvPr/>
        </p:nvSpPr>
        <p:spPr>
          <a:xfrm>
            <a:off x="6766560" y="35204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0" y="358444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VERY HIGH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393192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ADC 300+  |  Red LED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5675"/>
                </a:solidFill>
              </a:rPr>
              <a:t>Thresholds are placeholders pending calibration; an 8-count hysteresis prevents level flicker.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2A8C"/>
                </a:solidFill>
              </a:rPr>
              <a:t>Proposed Work Plan</a:t>
            </a:r>
            <a:endParaRPr lang="en-US" sz="2800" dirty="0"/>
          </a:p>
        </p:txBody>
      </p:sp>
      <p:sp>
        <p:nvSpPr>
          <p:cNvPr id="3" name="plan-card"/>
          <p:cNvSpPr/>
          <p:nvPr/>
        </p:nvSpPr>
        <p:spPr>
          <a:xfrm>
            <a:off x="457200" y="11887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plan-head"/>
          <p:cNvSpPr/>
          <p:nvPr/>
        </p:nvSpPr>
        <p:spPr>
          <a:xfrm>
            <a:off x="457200" y="11887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6C4DE6"/>
          </a:solidFill>
          <a:ln w="12700">
            <a:solidFill>
              <a:srgbClr val="6C4D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REVIEW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224028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Foundation &amp; Hardware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48840"/>
            <a:ext cx="224028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1240"/>
                </a:solidFill>
              </a:rPr>
              <a:t>Problem identification and objectives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1240"/>
                </a:solidFill>
              </a:rPr>
              <a:t>Literature survey and gap analysis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1240"/>
                </a:solidFill>
              </a:rPr>
              <a:t>Component selection: sensor, controller, display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1240"/>
                </a:solidFill>
              </a:rPr>
              <a:t>Breadboard assembly; TFT, LDR and UV sensor tests</a:t>
            </a:r>
            <a:endParaRPr lang="en-US" sz="1350" dirty="0"/>
          </a:p>
        </p:txBody>
      </p:sp>
      <p:sp>
        <p:nvSpPr>
          <p:cNvPr id="8" name="plan-card"/>
          <p:cNvSpPr/>
          <p:nvPr/>
        </p:nvSpPr>
        <p:spPr>
          <a:xfrm>
            <a:off x="3268980" y="11887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9" name="plan-head"/>
          <p:cNvSpPr/>
          <p:nvPr/>
        </p:nvSpPr>
        <p:spPr>
          <a:xfrm>
            <a:off x="3268980" y="11887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3B2A8C"/>
          </a:solidFill>
          <a:ln w="12700">
            <a:solidFill>
              <a:srgbClr val="3B2A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2801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REVIEW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554480"/>
            <a:ext cx="224028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Firmware &amp; Cloud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2148840"/>
            <a:ext cx="224028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1240"/>
                </a:solidFill>
              </a:rPr>
              <a:t>Sampling, filtering and hysteresis classification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1240"/>
                </a:solidFill>
              </a:rPr>
              <a:t>LED alerts and 3-screen TFT dashboard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1240"/>
                </a:solidFill>
              </a:rPr>
              <a:t>Wi-Fi and ThingSpeak upload every 16 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1240"/>
                </a:solidFill>
              </a:rPr>
              <a:t>Serial test mode and integration testing</a:t>
            </a:r>
            <a:endParaRPr lang="en-US" sz="1350" dirty="0"/>
          </a:p>
        </p:txBody>
      </p:sp>
      <p:sp>
        <p:nvSpPr>
          <p:cNvPr id="13" name="plan-card"/>
          <p:cNvSpPr/>
          <p:nvPr/>
        </p:nvSpPr>
        <p:spPr>
          <a:xfrm>
            <a:off x="6080760" y="11887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4" name="plan-head"/>
          <p:cNvSpPr/>
          <p:nvPr/>
        </p:nvSpPr>
        <p:spPr>
          <a:xfrm>
            <a:off x="6080760" y="11887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2801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REVIEW 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554480"/>
            <a:ext cx="224028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Calibration &amp; Demo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48840"/>
            <a:ext cx="224028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1240"/>
                </a:solidFill>
              </a:rPr>
              <a:t>Field testing in 5 light conditions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1240"/>
                </a:solidFill>
              </a:rPr>
              <a:t>Calibrate against a reference UV meter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1240"/>
                </a:solidFill>
              </a:rPr>
              <a:t>Secure upload via HTTPS / MQTT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1240"/>
                </a:solidFill>
              </a:rPr>
              <a:t>Enclosure, final report and demo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2A8C"/>
                </a:solidFill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6C4DE6"/>
                </a:solidFill>
              </a:rPr>
              <a:t>[1]  </a:t>
            </a:r>
            <a:r>
              <a:rPr lang="en-US" sz="1200" dirty="0">
                <a:solidFill>
                  <a:srgbClr val="1B1240"/>
                </a:solidFill>
              </a:rPr>
              <a:t>WHO, WMO, UNEP and ICNIRP, Global Solar UV Index: A Practical Guide. Geneva: WHO, 2002.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6C4DE6"/>
                </a:solidFill>
              </a:rPr>
              <a:t>[2]  </a:t>
            </a:r>
            <a:r>
              <a:rPr lang="en-US" sz="1200" dirty="0">
                <a:solidFill>
                  <a:srgbClr val="1B1240"/>
                </a:solidFill>
              </a:rPr>
              <a:t>Espressif Systems, ESP8266EX Datasheet.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6C4DE6"/>
                </a:solidFill>
              </a:rPr>
              <a:t>[3]  </a:t>
            </a:r>
            <a:r>
              <a:rPr lang="en-US" sz="1200" dirty="0">
                <a:solidFill>
                  <a:srgbClr val="1B1240"/>
                </a:solidFill>
              </a:rPr>
              <a:t>ESP8266 Community, "Arduino core for ESP8266 WiFi chip," GitHub. github.com/esp8266/Arduino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6C4DE6"/>
                </a:solidFill>
              </a:rPr>
              <a:t>[4]  </a:t>
            </a:r>
            <a:r>
              <a:rPr lang="en-US" sz="1200" dirty="0">
                <a:solidFill>
                  <a:srgbClr val="1B1240"/>
                </a:solidFill>
              </a:rPr>
              <a:t>Adafruit Industries, "Adafruit GFX Graphics Library," GitHub.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6C4DE6"/>
                </a:solidFill>
              </a:rPr>
              <a:t>[5]  </a:t>
            </a:r>
            <a:r>
              <a:rPr lang="en-US" sz="1200" dirty="0">
                <a:solidFill>
                  <a:srgbClr val="1B1240"/>
                </a:solidFill>
              </a:rPr>
              <a:t>Adafruit Industries, "Adafruit ST7735 and ST7789 Library," GitHub.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6C4DE6"/>
                </a:solidFill>
              </a:rPr>
              <a:t>[6]  </a:t>
            </a:r>
            <a:r>
              <a:rPr lang="en-US" sz="1200" dirty="0">
                <a:solidFill>
                  <a:srgbClr val="1B1240"/>
                </a:solidFill>
              </a:rPr>
              <a:t>The MathWorks, "ThingSpeak IoT Analytics Platform." thingspeak.com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188720"/>
            <a:ext cx="402336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6C4DE6"/>
                </a:solidFill>
              </a:rPr>
              <a:t>[7]  </a:t>
            </a:r>
            <a:r>
              <a:rPr lang="en-US" sz="1200" dirty="0">
                <a:solidFill>
                  <a:srgbClr val="1B1240"/>
                </a:solidFill>
              </a:rPr>
              <a:t>GenUV, GUVA-S12SD UV Light Sensor Datasheet.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6C4DE6"/>
                </a:solidFill>
              </a:rPr>
              <a:t>[8]  </a:t>
            </a:r>
            <a:r>
              <a:rPr lang="en-US" sz="1200" dirty="0">
                <a:solidFill>
                  <a:srgbClr val="1B1240"/>
                </a:solidFill>
              </a:rPr>
              <a:t>LAPIS Semiconductor, ML8511 UV Sensor with Voltage Output Datasheet.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6C4DE6"/>
                </a:solidFill>
              </a:rPr>
              <a:t>[9]  </a:t>
            </a:r>
            <a:r>
              <a:rPr lang="en-US" sz="1200" dirty="0">
                <a:solidFill>
                  <a:srgbClr val="1B1240"/>
                </a:solidFill>
              </a:rPr>
              <a:t>Vishay Semiconductors, VEML6075 UVA and UVB Light Sensor Datasheet.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6C4DE6"/>
                </a:solidFill>
              </a:rPr>
              <a:t>[10]  </a:t>
            </a:r>
            <a:r>
              <a:rPr lang="en-US" sz="1200" dirty="0">
                <a:solidFill>
                  <a:srgbClr val="1B1240"/>
                </a:solidFill>
              </a:rPr>
              <a:t>Lite-On Technology, LTR-390UV-01 Ambient and UV Light Sensor Datasheet.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6C4DE6"/>
                </a:solidFill>
              </a:rPr>
              <a:t>[11]  </a:t>
            </a:r>
            <a:r>
              <a:rPr lang="en-US" sz="1200" dirty="0">
                <a:solidFill>
                  <a:srgbClr val="1B1240"/>
                </a:solidFill>
              </a:rPr>
              <a:t>Silicon Laboratories, Si1145/46/47 Proximity, UV and Ambient Light Sensor IC Datasheet.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6C4DE6"/>
                </a:solidFill>
              </a:rPr>
              <a:t>[12]  </a:t>
            </a:r>
            <a:r>
              <a:rPr lang="en-US" sz="1200" dirty="0">
                <a:solidFill>
                  <a:srgbClr val="1B1240"/>
                </a:solidFill>
              </a:rPr>
              <a:t>Sitronix Technology, ST7735R 262K Color Single-Chip TFT Controller/Driver Datasheet.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2A8C"/>
                </a:solidFill>
              </a:rPr>
              <a:t>Work Progress to Date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FB67C"/>
                </a:solidFill>
              </a:rPr>
              <a:t>COMPLETED</a:t>
            </a:r>
            <a:endParaRPr lang="en-US" sz="1100" dirty="0"/>
          </a:p>
        </p:txBody>
      </p:sp>
      <p:sp>
        <p:nvSpPr>
          <p:cNvPr id="4" name="tick"/>
          <p:cNvSpPr/>
          <p:nvPr/>
        </p:nvSpPr>
        <p:spPr>
          <a:xfrm>
            <a:off x="457200" y="1444752"/>
            <a:ext cx="237744" cy="237744"/>
          </a:xfrm>
          <a:prstGeom prst="ellipse">
            <a:avLst/>
          </a:prstGeom>
          <a:solidFill>
            <a:srgbClr val="2FB67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240"/>
                </a:solidFill>
              </a:rPr>
              <a:t>Hardware assembly and unit tests</a:t>
            </a:r>
            <a:endParaRPr lang="en-US" sz="1300" dirty="0"/>
          </a:p>
        </p:txBody>
      </p:sp>
      <p:sp>
        <p:nvSpPr>
          <p:cNvPr id="6" name="tick"/>
          <p:cNvSpPr/>
          <p:nvPr/>
        </p:nvSpPr>
        <p:spPr>
          <a:xfrm>
            <a:off x="457200" y="1773936"/>
            <a:ext cx="237744" cy="237744"/>
          </a:xfrm>
          <a:prstGeom prst="ellipse">
            <a:avLst/>
          </a:prstGeom>
          <a:solidFill>
            <a:srgbClr val="2FB67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74650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240"/>
                </a:solidFill>
              </a:rPr>
              <a:t>Firmware: sampling, filter, hysteresis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68068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8A12"/>
                </a:solidFill>
              </a:rPr>
              <a:t>PENDING</a:t>
            </a:r>
            <a:endParaRPr lang="en-US" sz="1100" dirty="0"/>
          </a:p>
        </p:txBody>
      </p:sp>
      <p:sp>
        <p:nvSpPr>
          <p:cNvPr id="17" name="pending-dot"/>
          <p:cNvSpPr/>
          <p:nvPr/>
        </p:nvSpPr>
        <p:spPr>
          <a:xfrm>
            <a:off x="513080" y="3645408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8840" y="358140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240"/>
                </a:solidFill>
              </a:rPr>
              <a:t>Calibrate thresholds with a reference UV meter</a:t>
            </a:r>
            <a:endParaRPr lang="en-US" sz="13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754880" y="1097280"/>
          <a:ext cx="39319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7" name="stat-card"/>
          <p:cNvSpPr/>
          <p:nvPr/>
        </p:nvSpPr>
        <p:spPr>
          <a:xfrm>
            <a:off x="6099048" y="3611880"/>
            <a:ext cx="1243584" cy="914400"/>
          </a:xfrm>
          <a:prstGeom prst="roundRect">
            <a:avLst>
              <a:gd name="adj" fmla="val 1000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099048" y="3703320"/>
            <a:ext cx="1243584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2A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Rs. 1,400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099048" y="4114800"/>
            <a:ext cx="124358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675"/>
                </a:solidFill>
              </a:rPr>
              <a:t>total </a:t>
            </a:r>
            <a:r>
              <a:rPr lang="en-IN" altLang="en-US" sz="1100" dirty="0">
                <a:solidFill>
                  <a:srgbClr val="5B5675"/>
                </a:solidFill>
              </a:rPr>
              <a:t>estimated </a:t>
            </a:r>
            <a:r>
              <a:rPr lang="en-US" sz="1100" dirty="0">
                <a:solidFill>
                  <a:srgbClr val="5B5675"/>
                </a:solidFill>
              </a:rPr>
              <a:t>build cost</a:t>
            </a:r>
            <a:endParaRPr lang="en-US" sz="1100" dirty="0"/>
          </a:p>
        </p:txBody>
      </p:sp>
      <p:sp>
        <p:nvSpPr>
          <p:cNvPr id="30" name="stat-card"/>
          <p:cNvSpPr/>
          <p:nvPr/>
        </p:nvSpPr>
        <p:spPr>
          <a:xfrm>
            <a:off x="7443216" y="3611880"/>
            <a:ext cx="1243584" cy="914400"/>
          </a:xfrm>
          <a:prstGeom prst="roundRect">
            <a:avLst>
              <a:gd name="adj" fmla="val 1000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43216" y="3703320"/>
            <a:ext cx="1243584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2A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TRL 4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7443216" y="4114800"/>
            <a:ext cx="124358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675"/>
                </a:solidFill>
              </a:rPr>
              <a:t>proof of concept</a:t>
            </a:r>
            <a:endParaRPr lang="en-US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5" name="Text 7"/>
          <p:cNvSpPr txBox="1"/>
          <p:nvPr/>
        </p:nvSpPr>
        <p:spPr>
          <a:xfrm>
            <a:off x="822960" y="2320163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240"/>
                </a:solidFill>
              </a:rPr>
              <a:t>TFT dashboard (3 screens), no flicker</a:t>
            </a:r>
            <a:endParaRPr lang="en-US" sz="1300" dirty="0"/>
          </a:p>
        </p:txBody>
      </p:sp>
      <p:sp>
        <p:nvSpPr>
          <p:cNvPr id="37" name="Text 9"/>
          <p:cNvSpPr txBox="1"/>
          <p:nvPr/>
        </p:nvSpPr>
        <p:spPr>
          <a:xfrm>
            <a:off x="822960" y="2649347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240"/>
                </a:solidFill>
              </a:rPr>
              <a:t>LED alerts and serial test mode</a:t>
            </a:r>
            <a:endParaRPr lang="en-US" sz="1300" dirty="0"/>
          </a:p>
        </p:txBody>
      </p:sp>
      <p:sp>
        <p:nvSpPr>
          <p:cNvPr id="39" name="Text 11"/>
          <p:cNvSpPr txBox="1"/>
          <p:nvPr/>
        </p:nvSpPr>
        <p:spPr>
          <a:xfrm>
            <a:off x="822960" y="2978531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240"/>
                </a:solidFill>
              </a:rPr>
              <a:t>ThingSpeak upload every 16 s, offline-safe</a:t>
            </a:r>
            <a:endParaRPr lang="en-US" sz="1300" dirty="0"/>
          </a:p>
        </p:txBody>
      </p:sp>
      <p:sp>
        <p:nvSpPr>
          <p:cNvPr id="41" name="Text 13"/>
          <p:cNvSpPr txBox="1"/>
          <p:nvPr/>
        </p:nvSpPr>
        <p:spPr>
          <a:xfrm>
            <a:off x="822960" y="3307715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240"/>
                </a:solidFill>
              </a:rPr>
              <a:t>Field tests in 5 light conditions</a:t>
            </a:r>
            <a:endParaRPr lang="en-US" sz="1300" dirty="0"/>
          </a:p>
        </p:txBody>
      </p:sp>
      <p:sp>
        <p:nvSpPr>
          <p:cNvPr id="42" name="pending-dot"/>
          <p:cNvSpPr/>
          <p:nvPr/>
        </p:nvSpPr>
        <p:spPr>
          <a:xfrm>
            <a:off x="511810" y="2353564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43" name="pending-dot"/>
          <p:cNvSpPr/>
          <p:nvPr/>
        </p:nvSpPr>
        <p:spPr>
          <a:xfrm>
            <a:off x="513080" y="2704084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44" name="pending-dot"/>
          <p:cNvSpPr/>
          <p:nvPr/>
        </p:nvSpPr>
        <p:spPr>
          <a:xfrm>
            <a:off x="535305" y="3040634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45" name="pending-dot"/>
          <p:cNvSpPr/>
          <p:nvPr/>
        </p:nvSpPr>
        <p:spPr>
          <a:xfrm>
            <a:off x="515620" y="3356229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54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A623"/>
                </a:solidFill>
              </a:rPr>
              <a:t>Questions and suggestions are welcome</a:t>
            </a:r>
            <a:endParaRPr lang="en-US" sz="1800" dirty="0"/>
          </a:p>
        </p:txBody>
      </p:sp>
      <p:sp>
        <p:nvSpPr>
          <p:cNvPr id="4" name="level-dot"/>
          <p:cNvSpPr/>
          <p:nvPr/>
        </p:nvSpPr>
        <p:spPr>
          <a:xfrm>
            <a:off x="3520440" y="3063240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5" name="level-dot"/>
          <p:cNvSpPr/>
          <p:nvPr/>
        </p:nvSpPr>
        <p:spPr>
          <a:xfrm>
            <a:off x="4297680" y="3063240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6" name="level-dot"/>
          <p:cNvSpPr/>
          <p:nvPr/>
        </p:nvSpPr>
        <p:spPr>
          <a:xfrm>
            <a:off x="5074920" y="3063240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7" name="level-dot"/>
          <p:cNvSpPr/>
          <p:nvPr/>
        </p:nvSpPr>
        <p:spPr>
          <a:xfrm>
            <a:off x="5852160" y="3063240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B2E0"/>
                </a:solidFill>
              </a:rPr>
              <a:t>UV Guard  |  Pravin A  |  722824106121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V Guard">
  <a:themeElements>
    <a:clrScheme name="UV Guard">
      <a:dk1>
        <a:srgbClr val="1B1240"/>
      </a:dk1>
      <a:lt1>
        <a:srgbClr val="FFFFFF"/>
      </a:lt1>
      <a:dk2>
        <a:srgbClr val="3B2A8C"/>
      </a:dk2>
      <a:lt2>
        <a:srgbClr val="F3F0FF"/>
      </a:lt2>
      <a:accent1>
        <a:srgbClr val="6C4DE6"/>
      </a:accent1>
      <a:accent2>
        <a:srgbClr val="F5A623"/>
      </a:accent2>
      <a:accent3>
        <a:srgbClr val="E8505B"/>
      </a:accent3>
      <a:accent4>
        <a:srgbClr val="2FB67C"/>
      </a:accent4>
      <a:accent5>
        <a:srgbClr val="F2C94C"/>
      </a:accent5>
      <a:accent6>
        <a:srgbClr val="F2994A"/>
      </a:accent6>
      <a:hlink>
        <a:srgbClr val="6C4DE6"/>
      </a:hlink>
      <a:folHlink>
        <a:srgbClr val="3B2A8C"/>
      </a:folHlink>
    </a:clrScheme>
    <a:fontScheme name="UV Gu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V Guard">
  <a:themeElements>
    <a:clrScheme name="UV Guard">
      <a:dk1>
        <a:srgbClr val="1B1240"/>
      </a:dk1>
      <a:lt1>
        <a:srgbClr val="FFFFFF"/>
      </a:lt1>
      <a:dk2>
        <a:srgbClr val="3B2A8C"/>
      </a:dk2>
      <a:lt2>
        <a:srgbClr val="F3F0FF"/>
      </a:lt2>
      <a:accent1>
        <a:srgbClr val="6C4DE6"/>
      </a:accent1>
      <a:accent2>
        <a:srgbClr val="F5A623"/>
      </a:accent2>
      <a:accent3>
        <a:srgbClr val="E8505B"/>
      </a:accent3>
      <a:accent4>
        <a:srgbClr val="2FB67C"/>
      </a:accent4>
      <a:accent5>
        <a:srgbClr val="F2C94C"/>
      </a:accent5>
      <a:accent6>
        <a:srgbClr val="F2994A"/>
      </a:accent6>
      <a:hlink>
        <a:srgbClr val="6C4DE6"/>
      </a:hlink>
      <a:folHlink>
        <a:srgbClr val="3B2A8C"/>
      </a:folHlink>
    </a:clrScheme>
    <a:fontScheme name="UV Gu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5583</Words>
  <Application>WPS Presentation</Application>
  <PresentationFormat>On-screen Show (16:9)</PresentationFormat>
  <Paragraphs>326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UV Guard</vt:lpstr>
      <vt:lpstr>PowerPoint 演示文稿</vt:lpstr>
      <vt:lpstr>Introduction</vt:lpstr>
      <vt:lpstr>Problem Statement</vt:lpstr>
      <vt:lpstr>Literature Survey</vt:lpstr>
      <vt:lpstr>Existing Solutions &amp; Gaps Analyzed</vt:lpstr>
      <vt:lpstr>Proposed Solution: UV Guard</vt:lpstr>
      <vt:lpstr>Proposed Work Plan</vt:lpstr>
      <vt:lpstr>References</vt:lpstr>
      <vt:lpstr>Work Progress to Date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UV Guard - Review 1</dc:title>
  <dc:creator>Pravin A</dc:creator>
  <dc:subject>PptxGenJS Presentation</dc:subject>
  <cp:lastModifiedBy>pravi</cp:lastModifiedBy>
  <cp:revision>4</cp:revision>
  <dcterms:created xsi:type="dcterms:W3CDTF">2026-10-28T09:49:00Z</dcterms:created>
  <dcterms:modified xsi:type="dcterms:W3CDTF">2026-10-29T07:55:07Z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DC1A3B5BE2D74AB88512A3757096A77D_12</vt:lpwstr>
  </property>
  <property fmtid="{D5CDD505-2E9C-101B-9397-08002B2CF9AE}" pid="3" name="KSOProductBuildVer">
    <vt:lpwstr>1033-12.1.0.29162</vt:lpwstr>
  </property>
</Properties>
</file>