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1240"/>
                </a:solidFill>
                <a:latin typeface="+mn-lt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1240"/>
                </a:solidFill>
                <a:latin typeface="+mn-lt"/>
              </a:rPr>
              <a:t>Field test readings (raw ADC)</a:t>
            </a:r>
            <a:endParaRPr sz="1200" b="0" i="0" u="none" strike="noStrike">
              <a:solidFill>
                <a:srgbClr val="1B124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ADC</c:v>
                </c:pt>
              </c:strCache>
            </c:strRef>
          </c:tx>
          <c:spPr>
            <a:solidFill>
              <a:srgbClr val="2FB67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05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124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Covered</c:v>
                </c:pt>
                <c:pt idx="1">
                  <c:v>Indoor</c:v>
                </c:pt>
                <c:pt idx="2">
                  <c:v>Window</c:v>
                </c:pt>
                <c:pt idx="3">
                  <c:v>Shade</c:v>
                </c:pt>
                <c:pt idx="4">
                  <c:v>Sunlight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40</c:v>
                </c:pt>
                <c:pt idx="3">
                  <c:v>120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 cmpd="sng" algn="ctr">
              <a:solidFill>
                <a:srgbClr val="E5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f23b59e-ae61-45c0-85b4-d03f004e35d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3B2A8C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A3"/>
                </a:solidFill>
              </a:rPr>
              <a:t>Sri Eshwar College of Engineering  |  Dept. of ECE  |  Autonomous Semester End UG Degree Project Viva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UV Risk Classification and Ambient Light Monitoring System Using ESP8266 with ThingSpeak Cloud Connectivity</a:t>
            </a:r>
            <a:endParaRPr lang="en-US" sz="2600" dirty="0"/>
          </a:p>
        </p:txBody>
      </p:sp>
      <p:sp>
        <p:nvSpPr>
          <p:cNvPr id="4" name="detail-card"/>
          <p:cNvSpPr/>
          <p:nvPr/>
        </p:nvSpPr>
        <p:spPr>
          <a:xfrm>
            <a:off x="457200" y="192024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93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STUDENT NAME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12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Pravin A</a:t>
            </a:r>
            <a:endParaRPr lang="en-US" sz="1250" dirty="0"/>
          </a:p>
        </p:txBody>
      </p:sp>
      <p:sp>
        <p:nvSpPr>
          <p:cNvPr id="7" name="detail-card"/>
          <p:cNvSpPr/>
          <p:nvPr/>
        </p:nvSpPr>
        <p:spPr>
          <a:xfrm>
            <a:off x="3246120" y="192024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993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REGISTER NUMBER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212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722824106121</a:t>
            </a:r>
            <a:endParaRPr lang="en-US" sz="1250" dirty="0"/>
          </a:p>
        </p:txBody>
      </p:sp>
      <p:sp>
        <p:nvSpPr>
          <p:cNvPr id="10" name="detail-card"/>
          <p:cNvSpPr/>
          <p:nvPr/>
        </p:nvSpPr>
        <p:spPr>
          <a:xfrm>
            <a:off x="6035040" y="192024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993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YEAR / DEPT / SECTION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00445" y="2175383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  <a:sym typeface="+mn-ea"/>
              </a:rPr>
              <a:t>I</a:t>
            </a:r>
            <a:r>
              <a:rPr lang="en-IN" altLang="en-US" sz="1250" dirty="0">
                <a:solidFill>
                  <a:srgbClr val="1B1240"/>
                </a:solidFill>
                <a:sym typeface="+mn-ea"/>
              </a:rPr>
              <a:t>I</a:t>
            </a:r>
            <a:r>
              <a:rPr lang="en-US" sz="1250" dirty="0">
                <a:solidFill>
                  <a:srgbClr val="1B1240"/>
                </a:solidFill>
                <a:sym typeface="+mn-ea"/>
              </a:rPr>
              <a:t>I Year  / ECE / </a:t>
            </a:r>
            <a:r>
              <a:rPr lang="en-IN" altLang="en-US" sz="1250" dirty="0">
                <a:solidFill>
                  <a:srgbClr val="1B1240"/>
                </a:solidFill>
                <a:sym typeface="+mn-ea"/>
              </a:rPr>
              <a:t>C</a:t>
            </a:r>
            <a:endParaRPr lang="en-IN" altLang="en-US" sz="1250" dirty="0">
              <a:solidFill>
                <a:srgbClr val="1B1240"/>
              </a:solidFill>
            </a:endParaRPr>
          </a:p>
        </p:txBody>
      </p:sp>
      <p:sp>
        <p:nvSpPr>
          <p:cNvPr id="13" name="detail-card"/>
          <p:cNvSpPr/>
          <p:nvPr/>
        </p:nvSpPr>
        <p:spPr>
          <a:xfrm>
            <a:off x="457200" y="272491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798064"/>
            <a:ext cx="51663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COURSE CODE &amp; NAME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17520"/>
            <a:ext cx="5166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250" dirty="0">
                <a:sym typeface="+mn-ea"/>
              </a:rPr>
              <a:t>U23EC492</a:t>
            </a:r>
            <a:r>
              <a:rPr lang="en-US" sz="1250" dirty="0">
                <a:sym typeface="+mn-ea"/>
              </a:rPr>
              <a:t> - I</a:t>
            </a:r>
            <a:r>
              <a:rPr lang="en-IN" altLang="en-US" sz="1250" dirty="0">
                <a:sym typeface="+mn-ea"/>
              </a:rPr>
              <a:t>oT and Application</a:t>
            </a:r>
            <a:endParaRPr lang="en-US" sz="1250" dirty="0"/>
          </a:p>
        </p:txBody>
      </p:sp>
      <p:sp>
        <p:nvSpPr>
          <p:cNvPr id="16" name="detail-card"/>
          <p:cNvSpPr/>
          <p:nvPr/>
        </p:nvSpPr>
        <p:spPr>
          <a:xfrm>
            <a:off x="6035040" y="272491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7980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DATE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1752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detail-card"/>
          <p:cNvSpPr/>
          <p:nvPr/>
        </p:nvSpPr>
        <p:spPr>
          <a:xfrm>
            <a:off x="457200" y="35295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602736"/>
            <a:ext cx="51663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SDG ADDRESSED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822192"/>
            <a:ext cx="5166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250" dirty="0">
                <a:solidFill>
                  <a:srgbClr val="1B1240"/>
                </a:solidFill>
              </a:rPr>
              <a:t> </a:t>
            </a:r>
            <a:r>
              <a:rPr lang="en-US" sz="1250" dirty="0">
                <a:solidFill>
                  <a:srgbClr val="1B1240"/>
                </a:solidFill>
              </a:rPr>
              <a:t>SDG 3 - Good Health &amp; Well-being</a:t>
            </a:r>
            <a:endParaRPr lang="en-US" sz="1250" dirty="0">
              <a:solidFill>
                <a:srgbClr val="1B1240"/>
              </a:solidFill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 SDG 7 - Affordable &amp; Clean Energy </a:t>
            </a:r>
            <a:endParaRPr lang="en-US" sz="1250" dirty="0"/>
          </a:p>
        </p:txBody>
      </p:sp>
      <p:sp>
        <p:nvSpPr>
          <p:cNvPr id="22" name="detail-card"/>
          <p:cNvSpPr/>
          <p:nvPr/>
        </p:nvSpPr>
        <p:spPr>
          <a:xfrm>
            <a:off x="6035040" y="352958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36027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TRL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382219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TRL 4 - Experimental Proof of Concept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5"/>
                </a:solidFill>
              </a:rPr>
              <a:t>Supervisor: Dr. S. Ramalingam, AP/ECE   |   Sri Eshwar College of Engineering, Coimbatore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3" name="intro-card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UV radiation (100-400 nm) is invisible; UVA and UVB reach the ground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Causes sunburn, photokeratitis, skin ageing, cataracts, skin cancer</a:t>
            </a:r>
            <a:endParaRPr lang="en-US" sz="1300" dirty="0"/>
          </a:p>
        </p:txBody>
      </p:sp>
      <p:sp>
        <p:nvSpPr>
          <p:cNvPr id="6" name="intro-card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MOTIVATION &amp; IMPORTANCE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Strong year-round UV in tropical India; outdoor workers and students exposed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Forecasts are regional; calibrated meters are costly</a:t>
            </a:r>
            <a:endParaRPr lang="en-US" sz="1300" dirty="0"/>
          </a:p>
        </p:txBody>
      </p:sp>
      <p:sp>
        <p:nvSpPr>
          <p:cNvPr id="9" name="intro-card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TECHNICAL CONTEXT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ESP8266 NodeMCU reads an analog UV sensor (10-bit ADC, 0-1023)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LDR light state, TFT + LEDs, ThingSpeak upload over Wi-Fi</a:t>
            </a:r>
            <a:endParaRPr lang="en-US" sz="1300" dirty="0"/>
          </a:p>
        </p:txBody>
      </p:sp>
      <p:sp>
        <p:nvSpPr>
          <p:cNvPr id="12" name="intro-card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Measure, filter and classify UV into 4 levels with hysteresis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Local TFT/LED alert; 16 s cloud upload; works offline; test mode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prob-card"/>
          <p:cNvSpPr/>
          <p:nvPr/>
        </p:nvSpPr>
        <p:spPr>
          <a:xfrm>
            <a:off x="45720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prob-head"/>
          <p:cNvSpPr/>
          <p:nvPr/>
        </p:nvSpPr>
        <p:spPr>
          <a:xfrm>
            <a:off x="45720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6C4DE6"/>
          </a:solidFill>
          <a:ln w="12700">
            <a:solidFill>
              <a:srgbClr val="6C4D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UV cannot be seen or felt, so safe/unsafe levels cannot be judged by eye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No affordable, local, real-time notification between forecasts and costly meters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Hobby designs print raw values: no risk level, advice or light context</a:t>
            </a:r>
            <a:endParaRPr lang="en-US" sz="1300" dirty="0"/>
          </a:p>
        </p:txBody>
      </p:sp>
      <p:sp>
        <p:nvSpPr>
          <p:cNvPr id="7" name="prob-card"/>
          <p:cNvSpPr/>
          <p:nvPr/>
        </p:nvSpPr>
        <p:spPr>
          <a:xfrm>
            <a:off x="326898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prob-head"/>
          <p:cNvSpPr/>
          <p:nvPr/>
        </p:nvSpPr>
        <p:spPr>
          <a:xfrm>
            <a:off x="326898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IMPACT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Exposure is underestimated, even on hazy or cloudy days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Risk of sunburn, eye damage and skin cancer for outdoor workers and students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Uncalibrated 'UV Index' claims can mislead users</a:t>
            </a:r>
            <a:endParaRPr lang="en-US" sz="1300" dirty="0"/>
          </a:p>
        </p:txBody>
      </p:sp>
      <p:sp>
        <p:nvSpPr>
          <p:cNvPr id="11" name="prob-card"/>
          <p:cNvSpPr/>
          <p:nvPr/>
        </p:nvSpPr>
        <p:spPr>
          <a:xfrm>
            <a:off x="608076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2" name="prob-head"/>
          <p:cNvSpPr/>
          <p:nvPr/>
        </p:nvSpPr>
        <p:spPr>
          <a:xfrm>
            <a:off x="608076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NEED FOR THE SOLUTION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Low-cost, portable, local UV measurement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Named risk levels with colour, LEDs and advice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Stable readings; no display flicker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Works offline; cloud monitoring optional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1417320"/>
                <a:gridCol w="2237105"/>
                <a:gridCol w="1603375"/>
                <a:gridCol w="23774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Approach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Methodology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Findings / strengths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Professional UV meters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Calibrated detector with erythemal weighting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Most trustworthy local readings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cost; needs trained interpretation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Forecast apps / websites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Index estimated from solar elevation, ozone, cloud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 and widely available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Regional; ignores shade, reflection, altitude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Wearable UV sensors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Body-worn sensors or patches with phone link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Personal exposure tracking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Orientation-dependent accuracy; consumer products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Microcontroller UV monitors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Analog/digital UV sensor on Arduino/ESP; serial, LCD/OLED; ThingSpeak or Blynk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cost and flexible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voltages shown as UV Index; calibration not described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IoT environmental stations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Multi-sensor node (UV, temperature, humidity, pressure) to cloud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Long-term records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Needs network to view; no local alert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Existing Solutions &amp; Gaps Analyzed</a:t>
            </a:r>
            <a:endParaRPr lang="en-US" sz="2600" dirty="0"/>
          </a:p>
        </p:txBody>
      </p:sp>
      <p:sp>
        <p:nvSpPr>
          <p:cNvPr id="3" name="existing-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EXISTING APPROACHES AND LIMITS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Professional meters: accurate but costly, number only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Forecast apps: regional, not at the user's spot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Wearables: placement-dependent, single-purpose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Hobby monitors: raw values, uncalibrated, basic UI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IoT stations: network-dependent, no local alert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Unfiltered ADC noise; full-screen redraw flicker</a:t>
            </a:r>
            <a:endParaRPr lang="en-US" sz="1450" dirty="0"/>
          </a:p>
        </p:txBody>
      </p:sp>
      <p:sp>
        <p:nvSpPr>
          <p:cNvPr id="6" name="gap-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6B"/>
                </a:solidFill>
              </a:rPr>
              <a:t>GAPS ADDRESSED BY UV GUARD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Local, low-cost UV sensing at the device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Four named levels with colour and advice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Instant green/red LED alert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Averaging, smoothing, hysteresis, partial redraw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LDR bright/dark context for readings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Local operation continues without Wi-Fi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Value labelled as raw ADC until calibrated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Proposed Solution</a:t>
            </a:r>
            <a:endParaRPr lang="en-US" sz="2600" dirty="0"/>
          </a:p>
        </p:txBody>
      </p:sp>
      <p:sp>
        <p:nvSpPr>
          <p:cNvPr id="3" name="flow-step"/>
          <p:cNvSpPr/>
          <p:nvPr/>
        </p:nvSpPr>
        <p:spPr>
          <a:xfrm>
            <a:off x="457200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 UV on A0 every 25 ms</a:t>
            </a:r>
            <a:endParaRPr lang="en-US" sz="1200" dirty="0"/>
          </a:p>
        </p:txBody>
      </p:sp>
      <p:sp>
        <p:nvSpPr>
          <p:cNvPr id="4" name="flow-arrow"/>
          <p:cNvSpPr/>
          <p:nvPr/>
        </p:nvSpPr>
        <p:spPr>
          <a:xfrm>
            <a:off x="1993392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5" name="flow-step"/>
          <p:cNvSpPr/>
          <p:nvPr/>
        </p:nvSpPr>
        <p:spPr>
          <a:xfrm>
            <a:off x="2139696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 s mean + exponential filter</a:t>
            </a:r>
            <a:endParaRPr lang="en-US" sz="1200" dirty="0"/>
          </a:p>
        </p:txBody>
      </p:sp>
      <p:sp>
        <p:nvSpPr>
          <p:cNvPr id="6" name="flow-arrow"/>
          <p:cNvSpPr/>
          <p:nvPr/>
        </p:nvSpPr>
        <p:spPr>
          <a:xfrm>
            <a:off x="3675888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7" name="flow-step"/>
          <p:cNvSpPr/>
          <p:nvPr/>
        </p:nvSpPr>
        <p:spPr>
          <a:xfrm>
            <a:off x="3822192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Classify L1-L4 with hysteresis</a:t>
            </a:r>
            <a:endParaRPr lang="en-US" sz="1200" dirty="0"/>
          </a:p>
        </p:txBody>
      </p:sp>
      <p:sp>
        <p:nvSpPr>
          <p:cNvPr id="8" name="flow-arrow"/>
          <p:cNvSpPr/>
          <p:nvPr/>
        </p:nvSpPr>
        <p:spPr>
          <a:xfrm>
            <a:off x="5358384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9" name="flow-step"/>
          <p:cNvSpPr/>
          <p:nvPr/>
        </p:nvSpPr>
        <p:spPr>
          <a:xfrm>
            <a:off x="5504688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TFT and LEDs</a:t>
            </a:r>
            <a:endParaRPr lang="en-US" sz="1200" dirty="0"/>
          </a:p>
        </p:txBody>
      </p:sp>
      <p:sp>
        <p:nvSpPr>
          <p:cNvPr id="10" name="flow-arrow"/>
          <p:cNvSpPr/>
          <p:nvPr/>
        </p:nvSpPr>
        <p:spPr>
          <a:xfrm>
            <a:off x="7040880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11" name="flow-step"/>
          <p:cNvSpPr/>
          <p:nvPr/>
        </p:nvSpPr>
        <p:spPr>
          <a:xfrm>
            <a:off x="7187184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3B2A8C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to ThingSpeak every 16 s</a:t>
            </a:r>
            <a:endParaRPr lang="en-US" sz="1200" dirty="0"/>
          </a:p>
        </p:txBody>
      </p:sp>
      <p:sp>
        <p:nvSpPr>
          <p:cNvPr id="12" name="impl-card"/>
          <p:cNvSpPr/>
          <p:nvPr/>
        </p:nvSpPr>
        <p:spPr>
          <a:xfrm>
            <a:off x="457200" y="2011680"/>
            <a:ext cx="7796530" cy="260604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214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B67C"/>
                </a:solidFill>
              </a:rPr>
              <a:t>IMPLEMENTED 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23160"/>
            <a:ext cx="365760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4 levels: LOW, MODERATE, HIGH, VERY HIGH (placeholder thresholds 100/200/300)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LDR bright/dark with 3 s debounce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3-screen TFT dashboard; green (L1-2) / red (L3-4) LEDs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NO SIGNAL / SATURATED sensor checks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Serial test mode (levels forced 15 s)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ThingSpeak upload; offline operation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Block Diagram</a:t>
            </a:r>
            <a:endParaRPr 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2" name="Picture 12" descr="UV Guard Smart Monitoring Block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" y="916305"/>
            <a:ext cx="7525385" cy="3763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(Hardware)</a:t>
            </a:r>
            <a:endParaRPr lang="en-US" sz="2600" dirty="0"/>
          </a:p>
        </p:txBody>
      </p:sp>
      <p:pic>
        <p:nvPicPr>
          <p:cNvPr id="10" name="Image 2" descr="Enclosure with disp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1917700" y="-371475"/>
            <a:ext cx="3379470" cy="6008370"/>
          </a:xfrm>
          <a:prstGeom prst="rect">
            <a:avLst/>
          </a:prstGeom>
        </p:spPr>
      </p:pic>
      <p:sp>
        <p:nvSpPr>
          <p:cNvPr id="12" name="labels-card"/>
          <p:cNvSpPr/>
          <p:nvPr/>
        </p:nvSpPr>
        <p:spPr>
          <a:xfrm>
            <a:off x="676656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903720" y="11887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VISIBLE IN PHOTOS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903720" y="1508760"/>
            <a:ext cx="1691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NodeMCU ESP8266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1.8" ST7735 TFT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UV sensor and LDR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Green and red LEDs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3D-printed case with QR label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USB power cable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903720" y="365760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5675"/>
                </a:solidFill>
              </a:rPr>
              <a:t>Report lists an enclosure as future work, but the cost sheet includes a 3D-printed case. Confirm.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(Software): Primary Interface</a:t>
            </a:r>
            <a:endParaRPr lang="en-US" sz="2600" dirty="0"/>
          </a:p>
        </p:txBody>
      </p:sp>
      <p:sp>
        <p:nvSpPr>
          <p:cNvPr id="3" name="img-frame"/>
          <p:cNvSpPr/>
          <p:nvPr/>
        </p:nvSpPr>
        <p:spPr>
          <a:xfrm>
            <a:off x="438912" y="1041132"/>
            <a:ext cx="4974336" cy="2535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4" name="Image 0" descr="Cloud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9420"/>
            <a:ext cx="4937760" cy="24988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675"/>
                </a:solidFill>
              </a:rPr>
              <a:t>Remote dashboard: UV sensor ADC vs time from cloud uploads. The report calls it ThingSpeak, but the UI looks like a custom page - confirm.</a:t>
            </a:r>
            <a:endParaRPr lang="en-US" sz="1050" dirty="0"/>
          </a:p>
        </p:txBody>
      </p:sp>
      <p:sp>
        <p:nvSpPr>
          <p:cNvPr id="6" name="img-frame"/>
          <p:cNvSpPr/>
          <p:nvPr/>
        </p:nvSpPr>
        <p:spPr>
          <a:xfrm>
            <a:off x="5569263" y="1033272"/>
            <a:ext cx="3126114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7" name="Image 1" descr="TFT startup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551" y="1051560"/>
            <a:ext cx="3089538" cy="1737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577840" y="283464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675"/>
                </a:solidFill>
              </a:rPr>
              <a:t>On-device TFT startup screen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(Software): Results / Output</a:t>
            </a:r>
            <a:endParaRPr lang="en-US" sz="2600" dirty="0"/>
          </a:p>
        </p:txBody>
      </p:sp>
      <p:sp>
        <p:nvSpPr>
          <p:cNvPr id="3" name="img-frame"/>
          <p:cNvSpPr/>
          <p:nvPr/>
        </p:nvSpPr>
        <p:spPr>
          <a:xfrm>
            <a:off x="438912" y="1033844"/>
            <a:ext cx="4059936" cy="2092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4" name="Image 0" descr="Serial mon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2132"/>
            <a:ext cx="4023360" cy="20562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546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675"/>
                </a:solidFill>
              </a:rPr>
              <a:t>Arduino IDE serial monitor: one line per second with raw value, level, light, sensor and cloud status; cloud upload entries.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663440" y="100584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663440" y="3337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675"/>
                </a:solidFill>
              </a:rPr>
              <a:t>Values from the report's field-test table (Table 14); charted here for display.</a:t>
            </a:r>
            <a:endParaRPr lang="en-US" sz="1050" dirty="0"/>
          </a:p>
        </p:txBody>
      </p:sp>
      <p:sp>
        <p:nvSpPr>
          <p:cNvPr id="8" name="results-note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813048"/>
            <a:ext cx="786384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Levels and LEDs verified by forcing levels 1-4 (test mode); cloud, offline and failed-upload behaviour tested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Raw ADC counts, placeholder thresholds: levels are 'sensor risk', not UV Index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Report lists the shade reading (120) with light state 'off' - confirm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Technology Stack Used</a:t>
            </a:r>
            <a:endParaRPr lang="en-US" sz="2600" dirty="0"/>
          </a:p>
        </p:txBody>
      </p:sp>
      <p:sp>
        <p:nvSpPr>
          <p:cNvPr id="3" name="stack-card"/>
          <p:cNvSpPr/>
          <p:nvPr/>
        </p:nvSpPr>
        <p:spPr>
          <a:xfrm>
            <a:off x="45720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CONTROLLER &amp; SENSORS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NodeMCU ESP8266 (ESP-12E), 80 MHz, Wi-Fi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Analog UV sensor (GUVA-S12SD or similar)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5 mm LDR with 10 k divider</a:t>
            </a:r>
            <a:endParaRPr lang="en-US" sz="1100" dirty="0"/>
          </a:p>
        </p:txBody>
      </p:sp>
      <p:sp>
        <p:nvSpPr>
          <p:cNvPr id="6" name="stack-card"/>
          <p:cNvSpPr/>
          <p:nvPr/>
        </p:nvSpPr>
        <p:spPr>
          <a:xfrm>
            <a:off x="326898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614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DISPLAY &amp; ALERTS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1.8" 128x160 ST7735 SPI TFT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Green and red LEDs (220 ohm)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3D-printed enclosure (cost sheet)</a:t>
            </a:r>
            <a:endParaRPr lang="en-US" sz="1100" dirty="0"/>
          </a:p>
        </p:txBody>
      </p:sp>
      <p:sp>
        <p:nvSpPr>
          <p:cNvPr id="9" name="stack-card"/>
          <p:cNvSpPr/>
          <p:nvPr/>
        </p:nvSpPr>
        <p:spPr>
          <a:xfrm>
            <a:off x="608076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ADC (A0), GPIO, hardware SPI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UART / USB serial, 115200 baud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Wi-Fi 802.11 b/g/n; HTTP over TCP/IP</a:t>
            </a:r>
            <a:endParaRPr lang="en-US" sz="1100" dirty="0"/>
          </a:p>
        </p:txBody>
      </p:sp>
      <p:sp>
        <p:nvSpPr>
          <p:cNvPr id="12" name="stack-card"/>
          <p:cNvSpPr/>
          <p:nvPr/>
        </p:nvSpPr>
        <p:spPr>
          <a:xfrm>
            <a:off x="45720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C++ on Arduino framework; Arduino IDE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ESP8266 core, ESP8266WiFi, HTTPClient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Adafruit GFX, ST7735/ST7789, SPI</a:t>
            </a:r>
            <a:endParaRPr lang="en-US" sz="1100" dirty="0"/>
          </a:p>
        </p:txBody>
      </p:sp>
      <p:sp>
        <p:nvSpPr>
          <p:cNvPr id="15" name="stack-card"/>
          <p:cNvSpPr/>
          <p:nvPr/>
        </p:nvSpPr>
        <p:spPr>
          <a:xfrm>
            <a:off x="326898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614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CLOUD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0614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ThingSpeak channel (3 fields)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Upload every 16 s (free tier limit)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Credentials kept in secrets.h</a:t>
            </a:r>
            <a:endParaRPr lang="en-US" sz="1100" dirty="0"/>
          </a:p>
        </p:txBody>
      </p:sp>
      <p:sp>
        <p:nvSpPr>
          <p:cNvPr id="18" name="stack-card"/>
          <p:cNvSpPr/>
          <p:nvPr/>
        </p:nvSpPr>
        <p:spPr>
          <a:xfrm>
            <a:off x="608076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SIMULATION TOOLS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None stated in the report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Testing by serial monitor and field readings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Specifications: Hardware Components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51560"/>
          <a:ext cx="8229600" cy="3209544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3840480"/>
                <a:gridCol w="109728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S.No.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Components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Specifications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(Rs.)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NodeMCU ESP8266 (ESP-12E)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 MHz, integrated Wi-Fi, USB, 10-bit ADC (A0)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 UV sensor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 output to A0; exact model to be confirmed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1.8" TFT, ST7735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128 x 160, SPI, 3.3 V, landscape use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 mm LDR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Two-terminal; bright/dark input on D1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Resistors: 10 k x1, 220 ohm x2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LDR divider; LED current limiting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 LED x1, Red LED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D2 (levels 1-2) and D0 (levels 3-4)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Jumper wires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 required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Dotboard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piece, circuit assembly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USB cable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Programming and 5 V power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3D-printed case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Enclosure (cost sheet only)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 sticker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(sum of line items)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</a:t>
                      </a:r>
                      <a:r>
                        <a:rPr lang="en-IN" alt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Specifications: Software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051560"/>
          <a:ext cx="8229600" cy="3419856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246888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 / specification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Remarks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Development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Arduino IDE; board NodeMCU 1.0 (ESP-12E Module)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Version not stated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/ firmware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C++ (Arduino framework, ESP8266 core)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Non-blocking loop using millis()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Libraries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ESP8266WiFi, ESP8266HTTPClient, WiFiClient, SPI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Wi-Fi, HTTP upload, display bus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Display libraries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Adafruit GFX; Adafruit ST7735 and ST7789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Version not stated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platform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ThingSpeak: field 1 ADC</a:t>
                      </a:r>
                      <a:r>
                        <a:rPr lang="en-IN" alt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Upload every 16 s; HTTP timeout 2 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Signal processing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 ms samples; 1 s mean; exponential filter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Hysteresis 8 counts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Thresholds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 / 200 / 300 raw ADC counts (placeholders)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Calibration pending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Timing / reliability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LDR debounce 3 s; Wi-Fi retry 20 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mode forces level 15 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Conclusions</a:t>
            </a:r>
            <a:endParaRPr lang="en-US" sz="2600" dirty="0"/>
          </a:p>
        </p:txBody>
      </p:sp>
      <p:sp>
        <p:nvSpPr>
          <p:cNvPr id="3" name="summary-banner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UV Guard: a low-cost ESP8266 device that measures UV, classifies it into four risk levels, alerts locally on a TFT and LEDs, and uploads to ThingSpeak.</a:t>
            </a:r>
            <a:endParaRPr lang="en-US" sz="1350" dirty="0"/>
          </a:p>
        </p:txBody>
      </p:sp>
      <p:sp>
        <p:nvSpPr>
          <p:cNvPr id="5" name="concl-card"/>
          <p:cNvSpPr/>
          <p:nvPr/>
        </p:nvSpPr>
        <p:spPr>
          <a:xfrm>
            <a:off x="457200" y="1874520"/>
            <a:ext cx="6011545" cy="1579245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B67C"/>
                </a:solidFill>
              </a:rPr>
              <a:t>ACHIEVED AND TESTED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6243955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All 8 objectives met per report (Table 18)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Levels and LEDs verified in test mode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Field readings 2 to 400 raw ADC across 5 conditions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Uploads about every 16 s; local alerts continue offline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[1]  </a:t>
            </a:r>
            <a:r>
              <a:rPr lang="en-US" sz="1150" dirty="0">
                <a:solidFill>
                  <a:srgbClr val="1B1240"/>
                </a:solidFill>
              </a:rPr>
              <a:t>WHO, WMO, UNEP and ICNIRP, Global Solar UV Index: A Practical Guide. Geneva: WHO, 2002.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[2]  </a:t>
            </a:r>
            <a:r>
              <a:rPr lang="en-US" sz="1150" dirty="0">
                <a:solidFill>
                  <a:srgbClr val="1B1240"/>
                </a:solidFill>
              </a:rPr>
              <a:t>Espressif Systems, ESP8266EX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[3]  </a:t>
            </a:r>
            <a:r>
              <a:rPr lang="en-US" sz="1150" dirty="0">
                <a:solidFill>
                  <a:srgbClr val="1B1240"/>
                </a:solidFill>
              </a:rPr>
              <a:t>ESP8266 Community, "Arduino core for ESP8266 WiFi chip," GitHub. https://github.com/esp8266/Arduino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[4]  </a:t>
            </a:r>
            <a:r>
              <a:rPr lang="en-US" sz="1150" dirty="0">
                <a:solidFill>
                  <a:srgbClr val="1B1240"/>
                </a:solidFill>
              </a:rPr>
              <a:t>Adafruit Industries, "Adafruit GFX Graphics Library," GitHub. https://github.com/adafruit/Adafruit-GFX-Library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[5]  </a:t>
            </a:r>
            <a:r>
              <a:rPr lang="en-US" sz="1150" dirty="0">
                <a:solidFill>
                  <a:srgbClr val="1B1240"/>
                </a:solidFill>
              </a:rPr>
              <a:t>Adafruit Industries, "Adafruit ST7735 and ST7789 Library," GitHub. https://github.com/adafruit/Adafruit-ST7735-Library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[6]  </a:t>
            </a:r>
            <a:r>
              <a:rPr lang="en-US" sz="1150" dirty="0">
                <a:solidFill>
                  <a:srgbClr val="1B1240"/>
                </a:solidFill>
              </a:rPr>
              <a:t>The MathWorks, "ThingSpeak IoT Analytics Platform." https://thingspeak.com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[7]  </a:t>
            </a:r>
            <a:r>
              <a:rPr lang="en-US" sz="1150" dirty="0">
                <a:solidFill>
                  <a:srgbClr val="1B1240"/>
                </a:solidFill>
              </a:rPr>
              <a:t>GenUV, GUVA-S12SD UV Light Sensor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[8]  </a:t>
            </a:r>
            <a:r>
              <a:rPr lang="en-US" sz="1150" dirty="0">
                <a:solidFill>
                  <a:srgbClr val="1B1240"/>
                </a:solidFill>
              </a:rPr>
              <a:t>LAPIS Semiconductor, ML8511 UV Sensor with Voltage Output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[9]  </a:t>
            </a:r>
            <a:r>
              <a:rPr lang="en-US" sz="1150" dirty="0">
                <a:solidFill>
                  <a:srgbClr val="1B1240"/>
                </a:solidFill>
              </a:rPr>
              <a:t>Vishay Semiconductors, VEML6075 UVA and UVB Light Sensor with I2C Interface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[10]  </a:t>
            </a:r>
            <a:r>
              <a:rPr lang="en-US" sz="1150" dirty="0">
                <a:solidFill>
                  <a:srgbClr val="1B1240"/>
                </a:solidFill>
              </a:rPr>
              <a:t>Lite-On Technology, LTR-390UV-01 Ambient and UV Light Sensor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[11]  </a:t>
            </a:r>
            <a:r>
              <a:rPr lang="en-US" sz="1150" dirty="0">
                <a:solidFill>
                  <a:srgbClr val="1B1240"/>
                </a:solidFill>
              </a:rPr>
              <a:t>Silicon Laboratories, Si1145/46/47 Proximity, UV and Ambient Light Sensor IC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[12]  </a:t>
            </a:r>
            <a:r>
              <a:rPr lang="en-US" sz="1150" dirty="0">
                <a:solidFill>
                  <a:srgbClr val="1B1240"/>
                </a:solidFill>
              </a:rPr>
              <a:t>Sitronix Technology, ST7735R 262K Color Single-Chip TFT Controller/Driver Datasheet.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8A12"/>
                </a:solidFill>
              </a:rPr>
              <a:t>Questions and suggestions are welcome</a:t>
            </a:r>
            <a:endParaRPr lang="en-US" sz="1800" dirty="0"/>
          </a:p>
        </p:txBody>
      </p:sp>
      <p:sp>
        <p:nvSpPr>
          <p:cNvPr id="4" name="level-dot"/>
          <p:cNvSpPr/>
          <p:nvPr/>
        </p:nvSpPr>
        <p:spPr>
          <a:xfrm>
            <a:off x="352044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5" name="level-dot"/>
          <p:cNvSpPr/>
          <p:nvPr/>
        </p:nvSpPr>
        <p:spPr>
          <a:xfrm>
            <a:off x="429768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level-dot"/>
          <p:cNvSpPr/>
          <p:nvPr/>
        </p:nvSpPr>
        <p:spPr>
          <a:xfrm>
            <a:off x="507492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level-dot"/>
          <p:cNvSpPr/>
          <p:nvPr/>
        </p:nvSpPr>
        <p:spPr>
          <a:xfrm>
            <a:off x="585216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675"/>
                </a:solidFill>
              </a:rPr>
              <a:t>UV Guard  |  Pravin A  |  722824106121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V Guard Final Viva">
  <a:themeElements>
    <a:clrScheme name="UV Guard Final Viva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 Final Vi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V Guard Final Viva">
  <a:themeElements>
    <a:clrScheme name="UV Guard Final Viva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 Final Vi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8085</Words>
  <Application>WPS Presentation</Application>
  <PresentationFormat>On-screen Show (16:9)</PresentationFormat>
  <Paragraphs>453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UV Guard Final Viva</vt:lpstr>
      <vt:lpstr>PowerPoint 演示文稿</vt:lpstr>
      <vt:lpstr>Introduction</vt:lpstr>
      <vt:lpstr>Problem Statement</vt:lpstr>
      <vt:lpstr>Literature Survey</vt:lpstr>
      <vt:lpstr>Existing Solutions &amp; Gaps Analyzed</vt:lpstr>
      <vt:lpstr>Proposed Solution</vt:lpstr>
      <vt:lpstr>Block Diagram</vt:lpstr>
      <vt:lpstr>Prototype Image (Hardware)</vt:lpstr>
      <vt:lpstr>Prototype Image (Software): Primary Interface</vt:lpstr>
      <vt:lpstr>Prototype Image (Software): Results / Output</vt:lpstr>
      <vt:lpstr>Technology Stack Used</vt:lpstr>
      <vt:lpstr>Specifications: Hardware Components</vt:lpstr>
      <vt:lpstr>Specifications: Software</vt:lpstr>
      <vt:lpstr>Conclusions</vt:lpstr>
      <vt:lpstr>References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Guard - Final Viva</dc:title>
  <dc:creator>Pravin A</dc:creator>
  <dc:subject>PptxGenJS Presentation</dc:subject>
  <cp:lastModifiedBy>pravi</cp:lastModifiedBy>
  <cp:revision>12</cp:revision>
  <dcterms:created xsi:type="dcterms:W3CDTF">2026-10-28T10:04:00Z</dcterms:created>
  <dcterms:modified xsi:type="dcterms:W3CDTF">2026-10-29T07:55:12Z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C744D93C2EF84F6E9E4B14059F49E82A_12</vt:lpwstr>
  </property>
  <property fmtid="{D5CDD505-2E9C-101B-9397-08002B2CF9AE}" pid="3" name="KSOProductBuildVer">
    <vt:lpwstr>1033-12.1.0.29162</vt:lpwstr>
  </property>
</Properties>
</file>