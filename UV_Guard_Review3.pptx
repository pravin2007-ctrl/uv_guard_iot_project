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B1240"/>
                </a:solidFill>
                <a:latin typeface="+mn-lt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B1240"/>
                </a:solidFill>
                <a:latin typeface="+mn-lt"/>
              </a:rPr>
              <a:t>Preliminary field test: raw ADC</a:t>
            </a:r>
            <a:endParaRPr sz="1200" b="0" i="0" u="none" strike="noStrike">
              <a:solidFill>
                <a:srgbClr val="1B1240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ADC</c:v>
                </c:pt>
              </c:strCache>
            </c:strRef>
          </c:tx>
          <c:spPr>
            <a:solidFill>
              <a:srgbClr val="2FB67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FB6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B67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B67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C94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505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B124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Covered</c:v>
                </c:pt>
                <c:pt idx="1">
                  <c:v>Indoor</c:v>
                </c:pt>
                <c:pt idx="2">
                  <c:v>Window</c:v>
                </c:pt>
                <c:pt idx="3">
                  <c:v>Shade</c:v>
                </c:pt>
                <c:pt idx="4">
                  <c:v>Sunlight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40</c:v>
                </c:pt>
                <c:pt idx="3">
                  <c:v>120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5675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"/>
        </c:scaling>
        <c:delete val="0"/>
        <c:axPos val="l"/>
        <c:majorGridlines>
          <c:spPr>
            <a:ln w="6350" cap="flat" cmpd="sng" algn="ctr">
              <a:solidFill>
                <a:srgbClr val="E5E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5675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f016cca-9063-4e6f-80cd-6828c9a87bbc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52950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2475309"/>
            <a:ext cx="9753600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979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3B2A8C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5A3"/>
                </a:solidFill>
              </a:rPr>
              <a:t>Sri Eshwar College of Engineering  |  Dept. of ECE  |  Project Review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12"/>
                </a:solidFill>
              </a:rPr>
              <a:t>PROJECT REVIEW 3 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Smart UV Risk Classification and Ambient Light Monitoring System Using ESP8266 with ThingSpeak Cloud Connectivity</a:t>
            </a:r>
            <a:endParaRPr lang="en-US" sz="2600" dirty="0"/>
          </a:p>
        </p:txBody>
      </p:sp>
      <p:sp>
        <p:nvSpPr>
          <p:cNvPr id="4" name="detail-card"/>
          <p:cNvSpPr/>
          <p:nvPr/>
        </p:nvSpPr>
        <p:spPr>
          <a:xfrm>
            <a:off x="457200" y="20574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1488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STUDENT NAME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77440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240"/>
                </a:solidFill>
              </a:rPr>
              <a:t>Pravin A</a:t>
            </a:r>
            <a:endParaRPr lang="en-US" sz="1250" dirty="0"/>
          </a:p>
        </p:txBody>
      </p:sp>
      <p:sp>
        <p:nvSpPr>
          <p:cNvPr id="7" name="detail-card"/>
          <p:cNvSpPr/>
          <p:nvPr/>
        </p:nvSpPr>
        <p:spPr>
          <a:xfrm>
            <a:off x="2560320" y="20574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21488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REGISTER NUMBER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377440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240"/>
                </a:solidFill>
              </a:rPr>
              <a:t>722824106121</a:t>
            </a:r>
            <a:endParaRPr lang="en-US" sz="1250" dirty="0"/>
          </a:p>
        </p:txBody>
      </p:sp>
      <p:sp>
        <p:nvSpPr>
          <p:cNvPr id="10" name="detail-card"/>
          <p:cNvSpPr/>
          <p:nvPr/>
        </p:nvSpPr>
        <p:spPr>
          <a:xfrm>
            <a:off x="4663440" y="20574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1488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YEAR / DEPT / SECTION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377440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240"/>
                </a:solidFill>
                <a:sym typeface="+mn-ea"/>
              </a:rPr>
              <a:t>I</a:t>
            </a:r>
            <a:r>
              <a:rPr lang="en-IN" altLang="en-US" sz="1250" dirty="0">
                <a:solidFill>
                  <a:srgbClr val="1B1240"/>
                </a:solidFill>
                <a:sym typeface="+mn-ea"/>
              </a:rPr>
              <a:t>I</a:t>
            </a:r>
            <a:r>
              <a:rPr lang="en-US" sz="1250" dirty="0">
                <a:solidFill>
                  <a:srgbClr val="1B1240"/>
                </a:solidFill>
                <a:sym typeface="+mn-ea"/>
              </a:rPr>
              <a:t>I Year  / ECE / </a:t>
            </a:r>
            <a:r>
              <a:rPr lang="en-IN" altLang="en-US" sz="1250" dirty="0">
                <a:solidFill>
                  <a:srgbClr val="1B1240"/>
                </a:solidFill>
                <a:sym typeface="+mn-ea"/>
              </a:rPr>
              <a:t>C</a:t>
            </a:r>
            <a:endParaRPr lang="en-US" sz="1250" dirty="0"/>
          </a:p>
        </p:txBody>
      </p:sp>
      <p:sp>
        <p:nvSpPr>
          <p:cNvPr id="13" name="detail-card"/>
          <p:cNvSpPr/>
          <p:nvPr/>
        </p:nvSpPr>
        <p:spPr>
          <a:xfrm>
            <a:off x="6766560" y="20574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21488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COURSE CODE &amp; NAME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377440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IN" altLang="en-US" sz="1250" dirty="0">
                <a:sym typeface="+mn-ea"/>
              </a:rPr>
              <a:t>U23EC492</a:t>
            </a:r>
            <a:r>
              <a:rPr lang="en-US" sz="1250" dirty="0">
                <a:sym typeface="+mn-ea"/>
              </a:rPr>
              <a:t> - I</a:t>
            </a:r>
            <a:r>
              <a:rPr lang="en-IN" altLang="en-US" sz="1250" dirty="0">
                <a:sym typeface="+mn-ea"/>
              </a:rPr>
              <a:t>oT and Application</a:t>
            </a:r>
            <a:endParaRPr lang="en-US" sz="1250" dirty="0"/>
          </a:p>
        </p:txBody>
      </p:sp>
      <p:sp>
        <p:nvSpPr>
          <p:cNvPr id="16" name="detail-card"/>
          <p:cNvSpPr/>
          <p:nvPr/>
        </p:nvSpPr>
        <p:spPr>
          <a:xfrm>
            <a:off x="457200" y="315468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246120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SDG ADDRESSED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474720"/>
            <a:ext cx="283464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240"/>
                </a:solidFill>
              </a:rPr>
              <a:t>SDG 3 - Good Health &amp; Well-being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1240"/>
                </a:solidFill>
              </a:rPr>
              <a:t>SDG 7 - </a:t>
            </a:r>
            <a:r>
              <a:rPr lang="en-US" sz="1250" dirty="0">
                <a:sym typeface="+mn-ea"/>
              </a:rPr>
              <a:t> Affordable &amp;</a:t>
            </a:r>
            <a:r>
              <a:rPr lang="en-IN" altLang="en-US" sz="1250" dirty="0">
                <a:sym typeface="+mn-ea"/>
              </a:rPr>
              <a:t> </a:t>
            </a:r>
            <a:r>
              <a:rPr lang="en-US" sz="1250" dirty="0">
                <a:solidFill>
                  <a:srgbClr val="1B1240"/>
                </a:solidFill>
                <a:sym typeface="+mn-ea"/>
              </a:rPr>
              <a:t>Clean Energy</a:t>
            </a:r>
            <a:endParaRPr lang="en-US" sz="1250" dirty="0"/>
          </a:p>
        </p:txBody>
      </p:sp>
      <p:sp>
        <p:nvSpPr>
          <p:cNvPr id="19" name="detail-card"/>
          <p:cNvSpPr/>
          <p:nvPr/>
        </p:nvSpPr>
        <p:spPr>
          <a:xfrm>
            <a:off x="3749040" y="31546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86200" y="32461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TECHNOLOGY READINESS LEVEL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886200" y="3474720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240"/>
                </a:solidFill>
              </a:rPr>
              <a:t>TRL 4 - Experimental Proof of Concept </a:t>
            </a:r>
            <a:endParaRPr lang="en-US" sz="1250" dirty="0"/>
          </a:p>
        </p:txBody>
      </p:sp>
      <p:sp>
        <p:nvSpPr>
          <p:cNvPr id="22" name="detail-card"/>
          <p:cNvSpPr/>
          <p:nvPr/>
        </p:nvSpPr>
        <p:spPr>
          <a:xfrm>
            <a:off x="6400800" y="315468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24612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C4DE6"/>
                </a:solidFill>
              </a:rPr>
              <a:t>REVIEW &amp; DATE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3474720"/>
            <a:ext cx="2011680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240"/>
                </a:solidFill>
              </a:rPr>
              <a:t>Review 3  | 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64185" y="4434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675"/>
                </a:solidFill>
              </a:rPr>
              <a:t>Supervisor: Dr. S. Ramalingam, AP/ECE   |   Sri Eshwar College of Engineering, Coimbatore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Introduction</a:t>
            </a:r>
            <a:endParaRPr lang="en-US" sz="2600" dirty="0"/>
          </a:p>
        </p:txBody>
      </p:sp>
      <p:sp>
        <p:nvSpPr>
          <p:cNvPr id="3" name="intro-card"/>
          <p:cNvSpPr/>
          <p:nvPr/>
        </p:nvSpPr>
        <p:spPr>
          <a:xfrm>
            <a:off x="45720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BACKGROUND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6576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UV radiation (100-400 nm) is invisible; UVA and UVB reach the ground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Causes sunburn, photokeratitis, skin ageing, cataracts, skin cancer</a:t>
            </a:r>
            <a:endParaRPr lang="en-US" sz="1300" dirty="0"/>
          </a:p>
        </p:txBody>
      </p:sp>
      <p:sp>
        <p:nvSpPr>
          <p:cNvPr id="6" name="intro-card"/>
          <p:cNvSpPr/>
          <p:nvPr/>
        </p:nvSpPr>
        <p:spPr>
          <a:xfrm>
            <a:off x="466344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344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MOTIVATION &amp; IMPORTANCE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54480"/>
            <a:ext cx="36576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Strong year-round UV in tropical India; outdoor workers and students exposed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Forecasts are regional; calibrated meters are costly</a:t>
            </a:r>
            <a:endParaRPr lang="en-US" sz="1300" dirty="0"/>
          </a:p>
        </p:txBody>
      </p:sp>
      <p:sp>
        <p:nvSpPr>
          <p:cNvPr id="9" name="intro-card"/>
          <p:cNvSpPr/>
          <p:nvPr/>
        </p:nvSpPr>
        <p:spPr>
          <a:xfrm>
            <a:off x="45720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17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TECHNICAL CONTEXT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37560"/>
            <a:ext cx="36576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ESP8266 NodeMCU reads an analog UV sensor (10-bit ADC, 0-1023)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LDR light state, TFT + LEDs, ThingSpeak upload over Wi-Fi</a:t>
            </a:r>
            <a:endParaRPr lang="en-US" sz="1300" dirty="0"/>
          </a:p>
        </p:txBody>
      </p:sp>
      <p:sp>
        <p:nvSpPr>
          <p:cNvPr id="12" name="intro-card"/>
          <p:cNvSpPr/>
          <p:nvPr/>
        </p:nvSpPr>
        <p:spPr>
          <a:xfrm>
            <a:off x="466344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017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PROJECT OBJECTIVES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337560"/>
            <a:ext cx="36576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Measure, filter and classify UV into 4 levels with hysteresis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Local TFT/LED alert; 16 s cloud upload; works offline; test mode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3" name="prob-card"/>
          <p:cNvSpPr/>
          <p:nvPr/>
        </p:nvSpPr>
        <p:spPr>
          <a:xfrm>
            <a:off x="457200" y="10972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prob-head"/>
          <p:cNvSpPr/>
          <p:nvPr/>
        </p:nvSpPr>
        <p:spPr>
          <a:xfrm>
            <a:off x="457200" y="109728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6C4DE6"/>
          </a:solidFill>
          <a:ln w="12700">
            <a:solidFill>
              <a:srgbClr val="6C4D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228600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UV cannot be seen or felt, so safe/unsafe levels cannot be judged by eye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No affordable, local, real-time notification between forecasts and costly meters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Hobby designs print raw values: no risk level, advice or light context</a:t>
            </a:r>
            <a:endParaRPr lang="en-US" sz="1300" dirty="0"/>
          </a:p>
        </p:txBody>
      </p:sp>
      <p:sp>
        <p:nvSpPr>
          <p:cNvPr id="7" name="prob-card"/>
          <p:cNvSpPr/>
          <p:nvPr/>
        </p:nvSpPr>
        <p:spPr>
          <a:xfrm>
            <a:off x="3268980" y="10972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8" name="prob-head"/>
          <p:cNvSpPr/>
          <p:nvPr/>
        </p:nvSpPr>
        <p:spPr>
          <a:xfrm>
            <a:off x="3268980" y="109728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3B2A8C"/>
          </a:solidFill>
          <a:ln w="12700">
            <a:solidFill>
              <a:srgbClr val="3B2A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1860" y="10972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IMPACT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51860" y="1737360"/>
            <a:ext cx="228600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Exposure is underestimated, even on hazy or cloudy days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Risk of sunburn, eye damage and skin cancer for outdoor workers and students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Uncalibrated 'UV Index' claims can mislead users</a:t>
            </a:r>
            <a:endParaRPr lang="en-US" sz="1300" dirty="0"/>
          </a:p>
        </p:txBody>
      </p:sp>
      <p:sp>
        <p:nvSpPr>
          <p:cNvPr id="11" name="prob-card"/>
          <p:cNvSpPr/>
          <p:nvPr/>
        </p:nvSpPr>
        <p:spPr>
          <a:xfrm>
            <a:off x="6080760" y="10972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2" name="prob-head"/>
          <p:cNvSpPr/>
          <p:nvPr/>
        </p:nvSpPr>
        <p:spPr>
          <a:xfrm>
            <a:off x="6080760" y="109728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0972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NEED FOR THE SOLUTION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737360"/>
            <a:ext cx="228600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Low-cost, portable, local UV measurement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Named risk levels with colour, LEDs and advice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Stable readings; no display flicker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240"/>
                </a:solidFill>
              </a:rPr>
              <a:t>Works offline; cloud monitoring optional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Literature Survey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051560"/>
          <a:ext cx="8229600" cy="3017520"/>
        </p:xfrm>
        <a:graphic>
          <a:graphicData uri="http://schemas.openxmlformats.org/drawingml/2006/table">
            <a:tbl>
              <a:tblPr/>
              <a:tblGrid>
                <a:gridCol w="1417320"/>
                <a:gridCol w="2240280"/>
                <a:gridCol w="1600200"/>
                <a:gridCol w="237744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Approach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Methodology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Findings / strengths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Limitations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Professional UV meters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Calibrated detector with erythemal weighting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Most trustworthy local readings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cost; needs trained interpretation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Forecast apps / websites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UV Index estimated from solar elevation, ozone, cloud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Free and widely available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Regional; ignores shade, reflection, altitude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Wearable UV sensors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Body-worn sensors or patches with phone link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Personal exposure tracking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Orientation-dependent accuracy; consumer products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Microcontroller UV monitors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Analog/digital UV sensor on Arduino/ESP; serial, LCD/OLED; ThingSpeak or Blynk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 cost and flexible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Raw voltages shown as UV Index; calibration not described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IoT environmental stations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Multi-sensor node (UV, temperature, humidity, pressure) to cloud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Long-term records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Needs network to view; no local alert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Existing Solutions &amp; Gaps Analyzed</a:t>
            </a:r>
            <a:endParaRPr lang="en-US" sz="2600" dirty="0"/>
          </a:p>
        </p:txBody>
      </p:sp>
      <p:sp>
        <p:nvSpPr>
          <p:cNvPr id="3" name="existing-card"/>
          <p:cNvSpPr/>
          <p:nvPr/>
        </p:nvSpPr>
        <p:spPr>
          <a:xfrm>
            <a:off x="45720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EXISTING APPROACHES AND LIMITS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240"/>
                </a:solidFill>
              </a:rPr>
              <a:t>Professional meters: accurate but costly, number only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240"/>
                </a:solidFill>
              </a:rPr>
              <a:t>Forecast apps: regional, not at the user's spot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240"/>
                </a:solidFill>
              </a:rPr>
              <a:t>Wearables: placement-dependent, single-purpose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240"/>
                </a:solidFill>
              </a:rPr>
              <a:t>Hobby monitors: raw values, uncalibrated, basic UI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240"/>
                </a:solidFill>
              </a:rPr>
              <a:t>IoT stations: network-dependent, no local alert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240"/>
                </a:solidFill>
              </a:rPr>
              <a:t>Unfiltered ADC noise; full-screen redraw flicker</a:t>
            </a:r>
            <a:endParaRPr lang="en-US" sz="1450" dirty="0"/>
          </a:p>
        </p:txBody>
      </p:sp>
      <p:sp>
        <p:nvSpPr>
          <p:cNvPr id="6" name="gap-card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3B2A8C"/>
          </a:solidFill>
          <a:ln w="12700">
            <a:solidFill>
              <a:srgbClr val="3B2A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344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C46B"/>
                </a:solidFill>
              </a:rPr>
              <a:t>GAPS ADDRESSED BY UV GUARD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365760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Local, low-cost UV sensing at the device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Four named levels with colour and advice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Instant green/red LED alert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Averaging, smoothing, hysteresis, partial redraw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LDR bright/dark context for readings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Local operation continues without Wi-Fi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Value labelled as raw ADC until calibrated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Proposed Solution</a:t>
            </a:r>
            <a:endParaRPr lang="en-US" sz="2600" dirty="0"/>
          </a:p>
        </p:txBody>
      </p:sp>
      <p:sp>
        <p:nvSpPr>
          <p:cNvPr id="3" name="flow-step"/>
          <p:cNvSpPr/>
          <p:nvPr/>
        </p:nvSpPr>
        <p:spPr>
          <a:xfrm>
            <a:off x="457200" y="1097280"/>
            <a:ext cx="1536192" cy="731520"/>
          </a:xfrm>
          <a:prstGeom prst="roundRect">
            <a:avLst>
              <a:gd name="adj" fmla="val 10000"/>
            </a:avLst>
          </a:prstGeom>
          <a:solidFill>
            <a:srgbClr val="6C4DE6"/>
          </a:solidFill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Sample UV on A0 every 25 ms</a:t>
            </a:r>
            <a:endParaRPr lang="en-US" sz="1200" dirty="0"/>
          </a:p>
        </p:txBody>
      </p:sp>
      <p:sp>
        <p:nvSpPr>
          <p:cNvPr id="4" name="flow-arrow"/>
          <p:cNvSpPr/>
          <p:nvPr/>
        </p:nvSpPr>
        <p:spPr>
          <a:xfrm>
            <a:off x="1993392" y="1463040"/>
            <a:ext cx="146304" cy="0"/>
          </a:xfrm>
          <a:prstGeom prst="line">
            <a:avLst/>
          </a:prstGeom>
          <a:noFill/>
          <a:ln w="2540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5" name="flow-step"/>
          <p:cNvSpPr/>
          <p:nvPr/>
        </p:nvSpPr>
        <p:spPr>
          <a:xfrm>
            <a:off x="2139696" y="1097280"/>
            <a:ext cx="1536192" cy="731520"/>
          </a:xfrm>
          <a:prstGeom prst="roundRect">
            <a:avLst>
              <a:gd name="adj" fmla="val 10000"/>
            </a:avLst>
          </a:prstGeom>
          <a:solidFill>
            <a:srgbClr val="6C4DE6"/>
          </a:solidFill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 s mean + exponential filter</a:t>
            </a:r>
            <a:endParaRPr lang="en-US" sz="1200" dirty="0"/>
          </a:p>
        </p:txBody>
      </p:sp>
      <p:sp>
        <p:nvSpPr>
          <p:cNvPr id="6" name="flow-arrow"/>
          <p:cNvSpPr/>
          <p:nvPr/>
        </p:nvSpPr>
        <p:spPr>
          <a:xfrm>
            <a:off x="3675888" y="1463040"/>
            <a:ext cx="146304" cy="0"/>
          </a:xfrm>
          <a:prstGeom prst="line">
            <a:avLst/>
          </a:prstGeom>
          <a:noFill/>
          <a:ln w="2540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7" name="flow-step"/>
          <p:cNvSpPr/>
          <p:nvPr/>
        </p:nvSpPr>
        <p:spPr>
          <a:xfrm>
            <a:off x="3822192" y="1097280"/>
            <a:ext cx="1536192" cy="731520"/>
          </a:xfrm>
          <a:prstGeom prst="roundRect">
            <a:avLst>
              <a:gd name="adj" fmla="val 10000"/>
            </a:avLst>
          </a:prstGeom>
          <a:solidFill>
            <a:srgbClr val="6C4DE6"/>
          </a:solidFill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Classify L1-L4 with hysteresis</a:t>
            </a:r>
            <a:endParaRPr lang="en-US" sz="1200" dirty="0"/>
          </a:p>
        </p:txBody>
      </p:sp>
      <p:sp>
        <p:nvSpPr>
          <p:cNvPr id="8" name="flow-arrow"/>
          <p:cNvSpPr/>
          <p:nvPr/>
        </p:nvSpPr>
        <p:spPr>
          <a:xfrm>
            <a:off x="5358384" y="1463040"/>
            <a:ext cx="146304" cy="0"/>
          </a:xfrm>
          <a:prstGeom prst="line">
            <a:avLst/>
          </a:prstGeom>
          <a:noFill/>
          <a:ln w="2540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9" name="flow-step"/>
          <p:cNvSpPr/>
          <p:nvPr/>
        </p:nvSpPr>
        <p:spPr>
          <a:xfrm>
            <a:off x="5504688" y="1097280"/>
            <a:ext cx="1536192" cy="731520"/>
          </a:xfrm>
          <a:prstGeom prst="roundRect">
            <a:avLst>
              <a:gd name="adj" fmla="val 10000"/>
            </a:avLst>
          </a:prstGeom>
          <a:solidFill>
            <a:srgbClr val="6C4DE6"/>
          </a:solidFill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Update TFT and LEDs</a:t>
            </a:r>
            <a:endParaRPr lang="en-US" sz="1200" dirty="0"/>
          </a:p>
        </p:txBody>
      </p:sp>
      <p:sp>
        <p:nvSpPr>
          <p:cNvPr id="10" name="flow-arrow"/>
          <p:cNvSpPr/>
          <p:nvPr/>
        </p:nvSpPr>
        <p:spPr>
          <a:xfrm>
            <a:off x="7040880" y="1463040"/>
            <a:ext cx="146304" cy="0"/>
          </a:xfrm>
          <a:prstGeom prst="line">
            <a:avLst/>
          </a:prstGeom>
          <a:noFill/>
          <a:ln w="2540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11" name="flow-step"/>
          <p:cNvSpPr/>
          <p:nvPr/>
        </p:nvSpPr>
        <p:spPr>
          <a:xfrm>
            <a:off x="7187184" y="1097280"/>
            <a:ext cx="1536192" cy="731520"/>
          </a:xfrm>
          <a:prstGeom prst="roundRect">
            <a:avLst>
              <a:gd name="adj" fmla="val 10000"/>
            </a:avLst>
          </a:prstGeom>
          <a:solidFill>
            <a:srgbClr val="3B2A8C"/>
          </a:solidFill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Upload to ThingSpeak every 16 s</a:t>
            </a:r>
            <a:endParaRPr lang="en-US" sz="1200" dirty="0"/>
          </a:p>
        </p:txBody>
      </p:sp>
      <p:sp>
        <p:nvSpPr>
          <p:cNvPr id="12" name="impl-card"/>
          <p:cNvSpPr/>
          <p:nvPr/>
        </p:nvSpPr>
        <p:spPr>
          <a:xfrm>
            <a:off x="457200" y="2011680"/>
            <a:ext cx="4023360" cy="2606040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12140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FB67C"/>
                </a:solidFill>
              </a:rPr>
              <a:t>IMPLEMENTED 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23160"/>
            <a:ext cx="3657600" cy="2148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</a:rPr>
              <a:t>4 levels: LOW, MODERATE, HIGH, VERY HIGH (placeholder thresholds 100/200/300)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</a:rPr>
              <a:t>LDR bright/dark with 3 s debounce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</a:rPr>
              <a:t>3-screen TFT dashboard; green (L1-2) / red (L3-4) LEDs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</a:rPr>
              <a:t>NO SIGNAL / SATURATED sensor checks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</a:rPr>
              <a:t>Serial test mode (levels forced 15 s)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</a:rPr>
              <a:t>ThingSpeak upload; offline operation</a:t>
            </a:r>
            <a:endParaRPr lang="en-US" sz="1200" dirty="0"/>
          </a:p>
        </p:txBody>
      </p:sp>
      <p:sp>
        <p:nvSpPr>
          <p:cNvPr id="15" name="planned-card"/>
          <p:cNvSpPr/>
          <p:nvPr/>
        </p:nvSpPr>
        <p:spPr>
          <a:xfrm>
            <a:off x="4663440" y="2011680"/>
            <a:ext cx="40233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0C2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12140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8A12"/>
                </a:solidFill>
              </a:rPr>
              <a:t>PLANNED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423160"/>
            <a:ext cx="3657600" cy="2148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</a:rPr>
              <a:t>Calibration against a reference UV meter, then real UV Index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240"/>
                </a:solidFill>
              </a:rPr>
              <a:t>Richer dashboard: history, daily maximum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Proposed Work Plan</a:t>
            </a:r>
            <a:endParaRPr lang="en-US" sz="2600" dirty="0"/>
          </a:p>
        </p:txBody>
      </p:sp>
      <p:sp>
        <p:nvSpPr>
          <p:cNvPr id="3" name="plan-card"/>
          <p:cNvSpPr/>
          <p:nvPr/>
        </p:nvSpPr>
        <p:spPr>
          <a:xfrm>
            <a:off x="457200" y="109728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plan-head"/>
          <p:cNvSpPr/>
          <p:nvPr/>
        </p:nvSpPr>
        <p:spPr>
          <a:xfrm>
            <a:off x="457200" y="10972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6C4DE6"/>
          </a:solidFill>
          <a:ln w="12700">
            <a:solidFill>
              <a:srgbClr val="6C4D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REVIEW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 &amp; planning</a:t>
            </a:r>
            <a:endParaRPr lang="en-US" sz="1500" dirty="0"/>
          </a:p>
        </p:txBody>
      </p:sp>
      <p:sp>
        <p:nvSpPr>
          <p:cNvPr id="7" name="status-chip"/>
          <p:cNvSpPr/>
          <p:nvPr/>
        </p:nvSpPr>
        <p:spPr>
          <a:xfrm>
            <a:off x="640080" y="2011680"/>
            <a:ext cx="1188720" cy="256032"/>
          </a:xfrm>
          <a:prstGeom prst="roundRect">
            <a:avLst>
              <a:gd name="adj" fmla="val 35714"/>
            </a:avLst>
          </a:prstGeom>
          <a:solidFill>
            <a:srgbClr val="2FB67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COMPLETED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23160"/>
            <a:ext cx="228600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Problem identification, objectives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Literature survey, gap analysis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Component and sensor selection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Alternatives compared (sensor, MCU, display)</a:t>
            </a:r>
            <a:endParaRPr lang="en-US" sz="1250" dirty="0"/>
          </a:p>
        </p:txBody>
      </p:sp>
      <p:sp>
        <p:nvSpPr>
          <p:cNvPr id="9" name="plan-card"/>
          <p:cNvSpPr/>
          <p:nvPr/>
        </p:nvSpPr>
        <p:spPr>
          <a:xfrm>
            <a:off x="3268980" y="109728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0" name="plan-head"/>
          <p:cNvSpPr/>
          <p:nvPr/>
        </p:nvSpPr>
        <p:spPr>
          <a:xfrm>
            <a:off x="3268980" y="10972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3B2A8C"/>
          </a:solidFill>
          <a:ln w="12700">
            <a:solidFill>
              <a:srgbClr val="3B2A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1860" y="117043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REVIEW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51860" y="1417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Design &amp; prototype</a:t>
            </a:r>
            <a:endParaRPr lang="en-US" sz="1500" dirty="0"/>
          </a:p>
        </p:txBody>
      </p:sp>
      <p:sp>
        <p:nvSpPr>
          <p:cNvPr id="13" name="status-chip"/>
          <p:cNvSpPr/>
          <p:nvPr/>
        </p:nvSpPr>
        <p:spPr>
          <a:xfrm>
            <a:off x="3451860" y="2011680"/>
            <a:ext cx="1188720" cy="256032"/>
          </a:xfrm>
          <a:prstGeom prst="roundRect">
            <a:avLst>
              <a:gd name="adj" fmla="val 35714"/>
            </a:avLst>
          </a:prstGeom>
          <a:solidFill>
            <a:srgbClr val="2FB67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COMPLETED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451860" y="2423160"/>
            <a:ext cx="228600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Block diagram and circuit design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Breadboard assembly; TFT, LDR, UV tests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Firmware: filter, hysteresis, 4 levels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LEDs, TFT screens, serial test mode</a:t>
            </a:r>
            <a:endParaRPr lang="en-US" sz="1250" dirty="0"/>
          </a:p>
        </p:txBody>
      </p:sp>
      <p:sp>
        <p:nvSpPr>
          <p:cNvPr id="15" name="plan-card"/>
          <p:cNvSpPr/>
          <p:nvPr/>
        </p:nvSpPr>
        <p:spPr>
          <a:xfrm>
            <a:off x="6080760" y="109728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6" name="plan-head"/>
          <p:cNvSpPr/>
          <p:nvPr/>
        </p:nvSpPr>
        <p:spPr>
          <a:xfrm>
            <a:off x="6080760" y="10972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117043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REVIEW 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417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Integration &amp; testing</a:t>
            </a:r>
            <a:endParaRPr lang="en-US" sz="1500" dirty="0"/>
          </a:p>
        </p:txBody>
      </p:sp>
      <p:sp>
        <p:nvSpPr>
          <p:cNvPr id="19" name="status-chip"/>
          <p:cNvSpPr/>
          <p:nvPr/>
        </p:nvSpPr>
        <p:spPr>
          <a:xfrm>
            <a:off x="6263640" y="2011680"/>
            <a:ext cx="1188720" cy="256032"/>
          </a:xfrm>
          <a:prstGeom prst="roundRect">
            <a:avLst>
              <a:gd name="adj" fmla="val 35714"/>
            </a:avLst>
          </a:prstGeom>
          <a:solidFill>
            <a:srgbClr val="2FB67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COMPLETED*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423160"/>
            <a:ext cx="228600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ThingSpeak upload and offline tests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Field tests in 5 conditions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Report written; calibration still pending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Block Diagram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384048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32" name="Picture 12" descr="UV Guard Smart Monitoring Block 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595" y="738505"/>
            <a:ext cx="7936230" cy="39681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Prototype Image (Hardware)</a:t>
            </a:r>
            <a:endParaRPr lang="en-US" sz="2600" dirty="0"/>
          </a:p>
        </p:txBody>
      </p:sp>
      <p:sp>
        <p:nvSpPr>
          <p:cNvPr id="3" name="img-frame"/>
          <p:cNvSpPr/>
          <p:nvPr/>
        </p:nvSpPr>
        <p:spPr>
          <a:xfrm>
            <a:off x="438912" y="1040475"/>
            <a:ext cx="2322576" cy="308541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3E8"/>
            </a:solidFill>
            <a:prstDash val="solid"/>
          </a:ln>
        </p:spPr>
      </p:sp>
      <p:pic>
        <p:nvPicPr>
          <p:cNvPr id="4" name="Image 0" descr="Breadboard prototyp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8763"/>
            <a:ext cx="2286000" cy="304883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20624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675"/>
                </a:solidFill>
              </a:rPr>
              <a:t>Breadboard prototype: NodeMCU, TFT, UV sensor, LDR, LEDs</a:t>
            </a:r>
            <a:endParaRPr lang="en-US" sz="1000" dirty="0"/>
          </a:p>
        </p:txBody>
      </p:sp>
      <p:sp>
        <p:nvSpPr>
          <p:cNvPr id="6" name="img-frame"/>
          <p:cNvSpPr/>
          <p:nvPr/>
        </p:nvSpPr>
        <p:spPr>
          <a:xfrm>
            <a:off x="2999232" y="1036130"/>
            <a:ext cx="3602736" cy="2042541"/>
          </a:xfrm>
          <a:prstGeom prst="rect">
            <a:avLst/>
          </a:prstGeom>
          <a:solidFill>
            <a:srgbClr val="FFFFFF"/>
          </a:solidFill>
          <a:ln w="12700">
            <a:solidFill>
              <a:srgbClr val="C9C3E8"/>
            </a:solidFill>
            <a:prstDash val="solid"/>
          </a:ln>
        </p:spPr>
      </p:sp>
      <p:pic>
        <p:nvPicPr>
          <p:cNvPr id="7" name="Image 1" descr="Enclosure prototype fro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054418"/>
            <a:ext cx="3566160" cy="200596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017520" y="31546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675"/>
                </a:solidFill>
              </a:rPr>
              <a:t>Enclosed prototype: TFT window, green and red LEDs, QR label</a:t>
            </a:r>
            <a:endParaRPr lang="en-US" sz="1000" dirty="0"/>
          </a:p>
        </p:txBody>
      </p:sp>
      <p:pic>
        <p:nvPicPr>
          <p:cNvPr id="10" name="Image 2" descr="Enclosure with displ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524885" y="2903855"/>
            <a:ext cx="1350010" cy="240093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876290" y="3505200"/>
            <a:ext cx="89027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675"/>
                </a:solidFill>
              </a:rPr>
              <a:t>Display running inside the enclosure (portrait view)</a:t>
            </a:r>
            <a:endParaRPr lang="en-US" sz="1000" dirty="0"/>
          </a:p>
        </p:txBody>
      </p:sp>
      <p:sp>
        <p:nvSpPr>
          <p:cNvPr id="12" name="labels-card"/>
          <p:cNvSpPr/>
          <p:nvPr/>
        </p:nvSpPr>
        <p:spPr>
          <a:xfrm>
            <a:off x="6766560" y="105156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903720" y="118872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VISIBLE IN PHOTOS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6903720" y="1508760"/>
            <a:ext cx="169164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240"/>
                </a:solidFill>
              </a:rPr>
              <a:t>NodeMCU ESP8266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240"/>
                </a:solidFill>
              </a:rPr>
              <a:t>1.8" ST7735 TFT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240"/>
                </a:solidFill>
              </a:rPr>
              <a:t>UV sensor and LDR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240"/>
                </a:solidFill>
              </a:rPr>
              <a:t>Green and red LEDs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240"/>
                </a:solidFill>
              </a:rPr>
              <a:t>3D-printed case with QR label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240"/>
                </a:solidFill>
              </a:rPr>
              <a:t>USB power cable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6903720" y="3657600"/>
            <a:ext cx="16916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5675"/>
                </a:solidFill>
              </a:rPr>
              <a:t>Report lists an enclosure as future work, but the cost sheet includes a 3D-printed case. Confirm.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Prototype Image (Software)</a:t>
            </a:r>
            <a:endParaRPr lang="en-US" sz="2600" dirty="0"/>
          </a:p>
        </p:txBody>
      </p:sp>
      <p:sp>
        <p:nvSpPr>
          <p:cNvPr id="3" name="img-frame"/>
          <p:cNvSpPr/>
          <p:nvPr/>
        </p:nvSpPr>
        <p:spPr>
          <a:xfrm>
            <a:off x="440204" y="1033272"/>
            <a:ext cx="4011633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3E8"/>
            </a:solidFill>
            <a:prstDash val="solid"/>
          </a:ln>
        </p:spPr>
      </p:sp>
      <p:pic>
        <p:nvPicPr>
          <p:cNvPr id="4" name="Image 0" descr="Cloud dashboar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492" y="1051560"/>
            <a:ext cx="3975057" cy="2011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108960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675"/>
                </a:solidFill>
              </a:rPr>
              <a:t>Cloud dashboard: UV sensor ADC vs time. Report calls it ThingSpeak; the UI looks like a custom page - confirm.</a:t>
            </a:r>
            <a:endParaRPr lang="en-US" sz="1000" dirty="0"/>
          </a:p>
        </p:txBody>
      </p:sp>
      <p:sp>
        <p:nvSpPr>
          <p:cNvPr id="6" name="img-frame"/>
          <p:cNvSpPr/>
          <p:nvPr/>
        </p:nvSpPr>
        <p:spPr>
          <a:xfrm>
            <a:off x="4711622" y="1033272"/>
            <a:ext cx="3972716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3E8"/>
            </a:solidFill>
            <a:prstDash val="solid"/>
          </a:ln>
        </p:spPr>
      </p:sp>
      <p:pic>
        <p:nvPicPr>
          <p:cNvPr id="7" name="Image 1" descr="Serial monit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910" y="1051560"/>
            <a:ext cx="3936140" cy="2011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09160" y="3108960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675"/>
                </a:solidFill>
              </a:rPr>
              <a:t>Arduino IDE serial monitor: raw, level, light, sensor, cloud status; cloud upload entries</a:t>
            </a:r>
            <a:endParaRPr lang="en-US" sz="1000" dirty="0"/>
          </a:p>
        </p:txBody>
      </p:sp>
      <p:sp>
        <p:nvSpPr>
          <p:cNvPr id="14" name="sw-note"/>
          <p:cNvSpPr/>
          <p:nvPr/>
        </p:nvSpPr>
        <p:spPr>
          <a:xfrm>
            <a:off x="6035040" y="36118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6172200" y="370332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240"/>
                </a:solidFill>
              </a:rPr>
              <a:t>No simulation outputs are in the report. Circuit diagram (Fig. 6) and block diagram (Fig. 4) appear in the report.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Technology Stack Used</a:t>
            </a:r>
            <a:endParaRPr lang="en-US" sz="2600" dirty="0"/>
          </a:p>
        </p:txBody>
      </p:sp>
      <p:sp>
        <p:nvSpPr>
          <p:cNvPr id="3" name="stack-card"/>
          <p:cNvSpPr/>
          <p:nvPr/>
        </p:nvSpPr>
        <p:spPr>
          <a:xfrm>
            <a:off x="457200" y="1051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CONTROLLER &amp; SENSORS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1732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NodeMCU ESP8266 (ESP-12E), 80 MHz, Wi-Fi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Analog UV sensor (GUVA-S12SD or similar)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5 mm LDR with 10 k divider</a:t>
            </a:r>
            <a:endParaRPr lang="en-US" sz="1100" dirty="0"/>
          </a:p>
        </p:txBody>
      </p:sp>
      <p:sp>
        <p:nvSpPr>
          <p:cNvPr id="6" name="stack-card"/>
          <p:cNvSpPr/>
          <p:nvPr/>
        </p:nvSpPr>
        <p:spPr>
          <a:xfrm>
            <a:off x="3268980" y="1051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06140" y="11430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DISPLAY &amp; ALERTS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06140" y="141732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1.8" 128x160 ST7735 SPI TFT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Green and red LEDs (220 ohm)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3D-printed enclosure (cost sheet)</a:t>
            </a:r>
            <a:endParaRPr lang="en-US" sz="1100" dirty="0"/>
          </a:p>
        </p:txBody>
      </p:sp>
      <p:sp>
        <p:nvSpPr>
          <p:cNvPr id="9" name="stack-card"/>
          <p:cNvSpPr/>
          <p:nvPr/>
        </p:nvSpPr>
        <p:spPr>
          <a:xfrm>
            <a:off x="6080760" y="1051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1430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COMMUNICATION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41732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ADC (A0), GPIO, hardware SPI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UART / USB serial, 115200 baud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Wi-Fi 802.11 b/g/n; HTTP over TCP/IP</a:t>
            </a:r>
            <a:endParaRPr lang="en-US" sz="1100" dirty="0"/>
          </a:p>
        </p:txBody>
      </p:sp>
      <p:sp>
        <p:nvSpPr>
          <p:cNvPr id="12" name="stack-card"/>
          <p:cNvSpPr/>
          <p:nvPr/>
        </p:nvSpPr>
        <p:spPr>
          <a:xfrm>
            <a:off x="457200" y="2560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517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SOFTWARE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92608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C++ on Arduino framework; Arduino IDE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ESP8266 core, ESP8266WiFi, HTTPClient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Adafruit GFX, ST7735/ST7789, SPI</a:t>
            </a:r>
            <a:endParaRPr lang="en-US" sz="1100" dirty="0"/>
          </a:p>
        </p:txBody>
      </p:sp>
      <p:sp>
        <p:nvSpPr>
          <p:cNvPr id="15" name="stack-card"/>
          <p:cNvSpPr/>
          <p:nvPr/>
        </p:nvSpPr>
        <p:spPr>
          <a:xfrm>
            <a:off x="3268980" y="2560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06140" y="26517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CLOUD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406140" y="292608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ThingSpeak channel (3 fields)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Upload every 16 s (free tier limit)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Credentials kept in secrets.h</a:t>
            </a:r>
            <a:endParaRPr lang="en-US" sz="1100" dirty="0"/>
          </a:p>
        </p:txBody>
      </p:sp>
      <p:sp>
        <p:nvSpPr>
          <p:cNvPr id="18" name="stack-card"/>
          <p:cNvSpPr/>
          <p:nvPr/>
        </p:nvSpPr>
        <p:spPr>
          <a:xfrm>
            <a:off x="6080760" y="2560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26517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E6"/>
                </a:solidFill>
              </a:rPr>
              <a:t>SIMULATION TOOLS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92608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None stated in the report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1240"/>
                </a:solidFill>
              </a:rPr>
              <a:t>Testing by serial monitor and field readings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Uniqueness Claimed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7200" y="1051560"/>
          <a:ext cx="8229600" cy="292608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2194560"/>
                <a:gridCol w="256032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Forecast apps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Typical microcontroller UV monitors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UV Guard (this project)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Where UV is sensed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Regional estimate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At the device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A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At the device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Result shown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UV Index forecast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Often raw sensor value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A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 named levels, colour, advice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Immediate local alert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 must be opened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Serial / LCD output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A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Green / red LEDs and TFT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Noise handling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 applicable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Often unfiltered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A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Averaging, smoothing, hysteresis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Ambient-light context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Rarely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A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LDR bright/dark (debounced)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Works offline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Needs internet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Depends on design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A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Yes; cloud optional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Calibration honesty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 applicable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Raw often shown as UV Index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A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Labelled raw ADC; not a certified meter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1B1240"/>
                </a:solidFill>
              </a:rPr>
              <a:t>Demonstrated (bench/field tests in report): filtered, flicker-free 4-level display, LED agreement, offline operation, 16 s uploads. Expected, not yet validated: accuracy as a true UV Index after calibration. Not claimed as a new sensing method.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Specifications: Hardware Components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457200" y="1051560"/>
          <a:ext cx="8229600" cy="3209544"/>
        </p:xfrm>
        <a:graphic>
          <a:graphicData uri="http://schemas.openxmlformats.org/drawingml/2006/table">
            <a:tbl>
              <a:tblPr/>
              <a:tblGrid>
                <a:gridCol w="548640"/>
                <a:gridCol w="2743200"/>
                <a:gridCol w="3840480"/>
                <a:gridCol w="1097280"/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S.No.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Hardware Components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Specifications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Cost (Rs.)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NodeMCU ESP8266 (ESP-12E) x1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 MHz, integrated Wi-Fi, USB, 10-bit ADC (A0)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350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Analog UV sensor x1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Analog output to A0; exact model to be confirmed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1.8" TFT, ST7735 x1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128 x 160, SPI, 3.3 V, landscape use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370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 mm LDR x1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Two-terminal; bright/dark input on D1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Resistors: 10 k x1, 220 ohm x2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LDR divider; LED current limiting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Green LED x1, Red LED x1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 D2 (levels 1-2) and D0 (levels 3-4)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Jumper wires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As required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Dotboard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piece, circuit assembly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USB cable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Programming and 5 V power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3D-printed case x1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Enclosure (cost sheet only)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Product sticker x1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Label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 (sum of line items)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1,4</a:t>
                      </a:r>
                      <a:r>
                        <a:rPr lang="en-IN" altLang="en-US" sz="10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r>
                        <a:rPr lang="en-US" sz="105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26280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Specifications: Software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57200" y="1051560"/>
          <a:ext cx="8229600" cy="3419856"/>
        </p:xfrm>
        <a:graphic>
          <a:graphicData uri="http://schemas.openxmlformats.org/drawingml/2006/table">
            <a:tbl>
              <a:tblPr/>
              <a:tblGrid>
                <a:gridCol w="1737360"/>
                <a:gridCol w="4023360"/>
                <a:gridCol w="2468880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Item / specification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Remarks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Development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Arduino IDE; board NodeMCU 1.0 (ESP-12E Module)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Version not stated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Language / firmware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C++ (Arduino framework, ESP8266 core)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Non-blocking loop using millis()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Libraries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ESP8266WiFi, ESP8266HTTPClient, WiFiClient, SPI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Wi-Fi, HTTP upload, display bus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Display libraries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Adafruit GFX; Adafruit ST7735 and ST7789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Version not stated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Cloud platform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ThingSpeak: field 1 ADC, 2 level, 3 light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Upload every 16 s; HTTP timeout 2 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Signal processing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 ms samples; 1 s mean; exponential filter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Hysteresis 8 counts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Thresholds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 / 200 / 300 raw ADC counts (placeholders)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2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Calibration pending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Conclusions</a:t>
            </a:r>
            <a:endParaRPr lang="en-US" sz="2600" dirty="0"/>
          </a:p>
        </p:txBody>
      </p:sp>
      <p:sp>
        <p:nvSpPr>
          <p:cNvPr id="3" name="summary-banner"/>
          <p:cNvSpPr/>
          <p:nvPr/>
        </p:nvSpPr>
        <p:spPr>
          <a:xfrm>
            <a:off x="457200" y="10515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3B2A8C"/>
          </a:solidFill>
          <a:ln w="12700">
            <a:solidFill>
              <a:srgbClr val="3B2A8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UV Guard: a low-cost ESP8266 device that measures UV, classifies it into four risk levels, alerts locally on a TFT and LEDs, and uploads to ThingSpeak.</a:t>
            </a:r>
            <a:endParaRPr lang="en-US" sz="1350" dirty="0"/>
          </a:p>
        </p:txBody>
      </p:sp>
      <p:sp>
        <p:nvSpPr>
          <p:cNvPr id="5" name="concl-card"/>
          <p:cNvSpPr/>
          <p:nvPr/>
        </p:nvSpPr>
        <p:spPr>
          <a:xfrm>
            <a:off x="457200" y="18745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9339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FB67C"/>
                </a:solidFill>
              </a:rPr>
              <a:t>ACHIEVED AND TESTED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2286000" cy="2240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All 8 objectives met per report (Table 18)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Levels and LEDs verified in test mode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Field readings 2 to 400 raw ADC across 5 conditions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Uploads about every 16 s; local alerts continue offline</a:t>
            </a:r>
            <a:endParaRPr lang="en-US" sz="1250" dirty="0"/>
          </a:p>
        </p:txBody>
      </p:sp>
      <p:sp>
        <p:nvSpPr>
          <p:cNvPr id="8" name="concl-card"/>
          <p:cNvSpPr/>
          <p:nvPr/>
        </p:nvSpPr>
        <p:spPr>
          <a:xfrm>
            <a:off x="3268980" y="18745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1860" y="199339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8A12"/>
                </a:solidFill>
              </a:rPr>
              <a:t>LIMITATIONS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51860" y="2331720"/>
            <a:ext cx="2286000" cy="2240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Raw ADC only; thresholds are placeholders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Not a certified UV Index meter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LDR gives bright/dark only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Plain HTTP upload, not encrypted</a:t>
            </a:r>
            <a:endParaRPr lang="en-US" sz="1250" dirty="0"/>
          </a:p>
        </p:txBody>
      </p:sp>
      <p:sp>
        <p:nvSpPr>
          <p:cNvPr id="11" name="concl-card"/>
          <p:cNvSpPr/>
          <p:nvPr/>
        </p:nvSpPr>
        <p:spPr>
          <a:xfrm>
            <a:off x="6080760" y="18745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99339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A85A3"/>
                </a:solidFill>
              </a:rPr>
              <a:t>FUTURE WORK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331720"/>
            <a:ext cx="2286000" cy="2240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Calibrate against a reference UV meter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HTTPS or MQTT; richer dashboard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Analog light via external ADC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240"/>
                </a:solidFill>
              </a:rPr>
              <a:t>Battery operation, mobile app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References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[1]  </a:t>
            </a:r>
            <a:r>
              <a:rPr lang="en-US" sz="1150" dirty="0">
                <a:solidFill>
                  <a:srgbClr val="1B1240"/>
                </a:solidFill>
              </a:rPr>
              <a:t>WHO, WMO, UNEP and ICNIRP, Global Solar UV Index: A Practical Guide. Geneva: WHO, 2002.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[2]  </a:t>
            </a:r>
            <a:r>
              <a:rPr lang="en-US" sz="1150" dirty="0">
                <a:solidFill>
                  <a:srgbClr val="1B1240"/>
                </a:solidFill>
              </a:rPr>
              <a:t>Espressif Systems, ESP8266EX Datasheet.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[3]  </a:t>
            </a:r>
            <a:r>
              <a:rPr lang="en-US" sz="1150" dirty="0">
                <a:solidFill>
                  <a:srgbClr val="1B1240"/>
                </a:solidFill>
              </a:rPr>
              <a:t>ESP8266 Community, "Arduino core for ESP8266 WiFi chip," GitHub. https://github.com/esp8266/Arduino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[4]  </a:t>
            </a:r>
            <a:r>
              <a:rPr lang="en-US" sz="1150" dirty="0">
                <a:solidFill>
                  <a:srgbClr val="1B1240"/>
                </a:solidFill>
              </a:rPr>
              <a:t>Adafruit Industries, "Adafruit GFX Graphics Library," GitHub. https://github.com/adafruit/Adafruit-GFX-Library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[5]  </a:t>
            </a:r>
            <a:r>
              <a:rPr lang="en-US" sz="1150" dirty="0">
                <a:solidFill>
                  <a:srgbClr val="1B1240"/>
                </a:solidFill>
              </a:rPr>
              <a:t>Adafruit Industries, "Adafruit ST7735 and ST7789 Library," GitHub. https://github.com/adafruit/Adafruit-ST7735-Library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[6]  </a:t>
            </a:r>
            <a:r>
              <a:rPr lang="en-US" sz="1150" dirty="0">
                <a:solidFill>
                  <a:srgbClr val="1B1240"/>
                </a:solidFill>
              </a:rPr>
              <a:t>The MathWorks, "ThingSpeak IoT Analytics Platform." https://thingspeak.com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[7]  </a:t>
            </a:r>
            <a:r>
              <a:rPr lang="en-US" sz="1150" dirty="0">
                <a:solidFill>
                  <a:srgbClr val="1B1240"/>
                </a:solidFill>
              </a:rPr>
              <a:t>GenUV, GUVA-S12SD UV Light Sensor Datasheet.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[8]  </a:t>
            </a:r>
            <a:r>
              <a:rPr lang="en-US" sz="1150" dirty="0">
                <a:solidFill>
                  <a:srgbClr val="1B1240"/>
                </a:solidFill>
              </a:rPr>
              <a:t>LAPIS Semiconductor, ML8511 UV Sensor with Voltage Output Datasheet.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[9]  </a:t>
            </a:r>
            <a:r>
              <a:rPr lang="en-US" sz="1150" dirty="0">
                <a:solidFill>
                  <a:srgbClr val="1B1240"/>
                </a:solidFill>
              </a:rPr>
              <a:t>Vishay Semiconductors, VEML6075 UVA and UVB Light Sensor with I2C Interface Datasheet.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[10]  </a:t>
            </a:r>
            <a:r>
              <a:rPr lang="en-US" sz="1150" dirty="0">
                <a:solidFill>
                  <a:srgbClr val="1B1240"/>
                </a:solidFill>
              </a:rPr>
              <a:t>Lite-On Technology, LTR-390UV-01 Ambient and UV Light Sensor Datasheet.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[11]  </a:t>
            </a:r>
            <a:r>
              <a:rPr lang="en-US" sz="1150" dirty="0">
                <a:solidFill>
                  <a:srgbClr val="1B1240"/>
                </a:solidFill>
              </a:rPr>
              <a:t>Silicon Laboratories, Si1145/46/47 Proximity, UV and Ambient Light Sensor IC Datasheet.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6C4DE6"/>
                </a:solidFill>
              </a:rPr>
              <a:t>[12]  </a:t>
            </a:r>
            <a:r>
              <a:rPr lang="en-US" sz="1150" dirty="0">
                <a:solidFill>
                  <a:srgbClr val="1B1240"/>
                </a:solidFill>
              </a:rPr>
              <a:t>Sitronix Technology, ST7735R 262K Color Single-Chip TFT Controller/Driver Datasheet.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2A8C"/>
                </a:solidFill>
              </a:rPr>
              <a:t>Work Progress to Date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FB67C"/>
                </a:solidFill>
              </a:rPr>
              <a:t>COMPLETED</a:t>
            </a:r>
            <a:endParaRPr lang="en-US" sz="1100" dirty="0"/>
          </a:p>
        </p:txBody>
      </p:sp>
      <p:sp>
        <p:nvSpPr>
          <p:cNvPr id="4" name="tick"/>
          <p:cNvSpPr/>
          <p:nvPr/>
        </p:nvSpPr>
        <p:spPr>
          <a:xfrm>
            <a:off x="457200" y="1316736"/>
            <a:ext cx="201168" cy="201168"/>
          </a:xfrm>
          <a:prstGeom prst="ellipse">
            <a:avLst/>
          </a:prstGeom>
          <a:solidFill>
            <a:srgbClr val="2FB67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29844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240"/>
                </a:solidFill>
              </a:rPr>
              <a:t>Hardware assembly and unit tests</a:t>
            </a:r>
            <a:endParaRPr lang="en-US" sz="1150" dirty="0"/>
          </a:p>
        </p:txBody>
      </p:sp>
      <p:sp>
        <p:nvSpPr>
          <p:cNvPr id="6" name="tick"/>
          <p:cNvSpPr/>
          <p:nvPr/>
        </p:nvSpPr>
        <p:spPr>
          <a:xfrm>
            <a:off x="457200" y="1591056"/>
            <a:ext cx="201168" cy="201168"/>
          </a:xfrm>
          <a:prstGeom prst="ellipse">
            <a:avLst/>
          </a:prstGeom>
          <a:solidFill>
            <a:srgbClr val="2FB67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57276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240"/>
                </a:solidFill>
              </a:rPr>
              <a:t>Firmware: sampling, filter, hysteresis</a:t>
            </a:r>
            <a:endParaRPr lang="en-US" sz="1150" dirty="0"/>
          </a:p>
        </p:txBody>
      </p:sp>
      <p:sp>
        <p:nvSpPr>
          <p:cNvPr id="8" name="tick"/>
          <p:cNvSpPr/>
          <p:nvPr/>
        </p:nvSpPr>
        <p:spPr>
          <a:xfrm>
            <a:off x="457200" y="1865376"/>
            <a:ext cx="201168" cy="201168"/>
          </a:xfrm>
          <a:prstGeom prst="ellipse">
            <a:avLst/>
          </a:prstGeom>
          <a:solidFill>
            <a:srgbClr val="2FB67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4708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240"/>
                </a:solidFill>
              </a:rPr>
              <a:t>TFT dashboard (3 screens), LEDs, test mode</a:t>
            </a:r>
            <a:endParaRPr lang="en-US" sz="1150" dirty="0"/>
          </a:p>
        </p:txBody>
      </p:sp>
      <p:sp>
        <p:nvSpPr>
          <p:cNvPr id="10" name="tick"/>
          <p:cNvSpPr/>
          <p:nvPr/>
        </p:nvSpPr>
        <p:spPr>
          <a:xfrm>
            <a:off x="457200" y="2139696"/>
            <a:ext cx="201168" cy="201168"/>
          </a:xfrm>
          <a:prstGeom prst="ellipse">
            <a:avLst/>
          </a:prstGeom>
          <a:solidFill>
            <a:srgbClr val="2FB67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12140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240"/>
                </a:solidFill>
              </a:rPr>
              <a:t>ThingSpeak upload; offline operation</a:t>
            </a:r>
            <a:endParaRPr lang="en-US" sz="1150" dirty="0"/>
          </a:p>
        </p:txBody>
      </p:sp>
      <p:sp>
        <p:nvSpPr>
          <p:cNvPr id="12" name="tick"/>
          <p:cNvSpPr/>
          <p:nvPr/>
        </p:nvSpPr>
        <p:spPr>
          <a:xfrm>
            <a:off x="457200" y="2414016"/>
            <a:ext cx="201168" cy="201168"/>
          </a:xfrm>
          <a:prstGeom prst="ellipse">
            <a:avLst/>
          </a:prstGeom>
          <a:solidFill>
            <a:srgbClr val="2FB67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39572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240"/>
                </a:solidFill>
              </a:rPr>
              <a:t>Field tests in 5 conditions</a:t>
            </a:r>
            <a:endParaRPr lang="en-US" sz="1150" dirty="0"/>
          </a:p>
        </p:txBody>
      </p:sp>
      <p:sp>
        <p:nvSpPr>
          <p:cNvPr id="14" name="tick"/>
          <p:cNvSpPr/>
          <p:nvPr/>
        </p:nvSpPr>
        <p:spPr>
          <a:xfrm>
            <a:off x="457200" y="2688336"/>
            <a:ext cx="201168" cy="201168"/>
          </a:xfrm>
          <a:prstGeom prst="ellipse">
            <a:avLst/>
          </a:prstGeom>
          <a:solidFill>
            <a:srgbClr val="2FB67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67004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240"/>
                </a:solidFill>
              </a:rPr>
              <a:t>Integration</a:t>
            </a:r>
            <a:r>
              <a:rPr lang="en-IN" altLang="en-US" sz="1150" dirty="0">
                <a:solidFill>
                  <a:srgbClr val="1B1240"/>
                </a:solidFill>
              </a:rPr>
              <a:t> if website </a:t>
            </a:r>
            <a:endParaRPr lang="en-IN" altLang="en-US" sz="1150" dirty="0">
              <a:solidFill>
                <a:srgbClr val="1B1240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57200" y="3035808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8A12"/>
                </a:solidFill>
              </a:rPr>
              <a:t>IN PROGRESS</a:t>
            </a:r>
            <a:endParaRPr lang="en-US" sz="1100" dirty="0"/>
          </a:p>
        </p:txBody>
      </p:sp>
      <p:sp>
        <p:nvSpPr>
          <p:cNvPr id="17" name="open-dot"/>
          <p:cNvSpPr/>
          <p:nvPr/>
        </p:nvSpPr>
        <p:spPr>
          <a:xfrm>
            <a:off x="457200" y="3300984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8A1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28269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150" dirty="0">
                <a:solidFill>
                  <a:srgbClr val="1B1240"/>
                </a:solidFill>
              </a:rPr>
              <a:t>T</a:t>
            </a:r>
            <a:r>
              <a:rPr lang="en-US" sz="1150" dirty="0">
                <a:solidFill>
                  <a:srgbClr val="1B1240"/>
                </a:solidFill>
              </a:rPr>
              <a:t>he report</a:t>
            </a:r>
            <a:endParaRPr lang="en-US" sz="115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4754880" y="1005840"/>
          <a:ext cx="39319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" name="progress-note"/>
          <p:cNvSpPr/>
          <p:nvPr/>
        </p:nvSpPr>
        <p:spPr>
          <a:xfrm>
            <a:off x="4754880" y="36118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92040" y="3675888"/>
            <a:ext cx="36576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240"/>
                </a:solidFill>
              </a:rPr>
              <a:t>Values are raw ADC counts; thresholds are placeholders, so levels are 'sensor risk', not UV Index. Report lists the shade reading (120) with light state 'off' - confirm.</a:t>
            </a:r>
            <a:endParaRPr lang="en-US" sz="10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A85A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28" name="open-dot"/>
          <p:cNvSpPr/>
          <p:nvPr/>
        </p:nvSpPr>
        <p:spPr>
          <a:xfrm>
            <a:off x="457200" y="3675634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8A12"/>
            </a:solidFill>
            <a:prstDash val="solid"/>
          </a:ln>
        </p:spPr>
      </p:sp>
      <p:sp>
        <p:nvSpPr>
          <p:cNvPr id="29" name="Text 16"/>
          <p:cNvSpPr txBox="1"/>
          <p:nvPr/>
        </p:nvSpPr>
        <p:spPr>
          <a:xfrm>
            <a:off x="777240" y="365734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1150" dirty="0">
                <a:solidFill>
                  <a:srgbClr val="1B1240"/>
                </a:solidFill>
              </a:rPr>
              <a:t>Final product sticker</a:t>
            </a:r>
            <a:endParaRPr lang="en-IN" sz="1150" dirty="0"/>
          </a:p>
        </p:txBody>
      </p:sp>
      <p:sp>
        <p:nvSpPr>
          <p:cNvPr id="30" name="open-dot"/>
          <p:cNvSpPr/>
          <p:nvPr/>
        </p:nvSpPr>
        <p:spPr>
          <a:xfrm>
            <a:off x="457200" y="4046474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8A12"/>
            </a:solidFill>
            <a:prstDash val="solid"/>
          </a:ln>
        </p:spPr>
      </p:sp>
      <p:sp>
        <p:nvSpPr>
          <p:cNvPr id="31" name="Text 16"/>
          <p:cNvSpPr txBox="1"/>
          <p:nvPr/>
        </p:nvSpPr>
        <p:spPr>
          <a:xfrm>
            <a:off x="777240" y="402818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150" dirty="0"/>
              <a:t>Hosting of website and qr generation</a:t>
            </a:r>
            <a:endParaRPr lang="en-IN" alt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3B2A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8A12"/>
                </a:solidFill>
              </a:rPr>
              <a:t>Questions and suggestions are welcome</a:t>
            </a:r>
            <a:endParaRPr lang="en-US" sz="1800" dirty="0"/>
          </a:p>
        </p:txBody>
      </p:sp>
      <p:sp>
        <p:nvSpPr>
          <p:cNvPr id="4" name="level-dot"/>
          <p:cNvSpPr/>
          <p:nvPr/>
        </p:nvSpPr>
        <p:spPr>
          <a:xfrm>
            <a:off x="3520440" y="3017520"/>
            <a:ext cx="640080" cy="182880"/>
          </a:xfrm>
          <a:prstGeom prst="roundRect">
            <a:avLst>
              <a:gd name="adj" fmla="val 40000"/>
            </a:avLst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sp>
        <p:nvSpPr>
          <p:cNvPr id="5" name="level-dot"/>
          <p:cNvSpPr/>
          <p:nvPr/>
        </p:nvSpPr>
        <p:spPr>
          <a:xfrm>
            <a:off x="4297680" y="3017520"/>
            <a:ext cx="640080" cy="182880"/>
          </a:xfrm>
          <a:prstGeom prst="roundRect">
            <a:avLst>
              <a:gd name="adj" fmla="val 40000"/>
            </a:avLst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6" name="level-dot"/>
          <p:cNvSpPr/>
          <p:nvPr/>
        </p:nvSpPr>
        <p:spPr>
          <a:xfrm>
            <a:off x="5074920" y="3017520"/>
            <a:ext cx="640080" cy="182880"/>
          </a:xfrm>
          <a:prstGeom prst="roundRect">
            <a:avLst>
              <a:gd name="adj" fmla="val 40000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7" name="level-dot"/>
          <p:cNvSpPr/>
          <p:nvPr/>
        </p:nvSpPr>
        <p:spPr>
          <a:xfrm>
            <a:off x="5852160" y="3017520"/>
            <a:ext cx="640080" cy="182880"/>
          </a:xfrm>
          <a:prstGeom prst="roundRect">
            <a:avLst>
              <a:gd name="adj" fmla="val 40000"/>
            </a:avLst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5675"/>
                </a:solidFill>
              </a:rPr>
              <a:t>UV Guard  |  Pravin A  |  722824106121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V Guard Review 3">
  <a:themeElements>
    <a:clrScheme name="UV Guard Review 3">
      <a:dk1>
        <a:srgbClr val="1B1240"/>
      </a:dk1>
      <a:lt1>
        <a:srgbClr val="FFFFFF"/>
      </a:lt1>
      <a:dk2>
        <a:srgbClr val="3B2A8C"/>
      </a:dk2>
      <a:lt2>
        <a:srgbClr val="F3F0FF"/>
      </a:lt2>
      <a:accent1>
        <a:srgbClr val="6C4DE6"/>
      </a:accent1>
      <a:accent2>
        <a:srgbClr val="F5A623"/>
      </a:accent2>
      <a:accent3>
        <a:srgbClr val="E8505B"/>
      </a:accent3>
      <a:accent4>
        <a:srgbClr val="2FB67C"/>
      </a:accent4>
      <a:accent5>
        <a:srgbClr val="F2C94C"/>
      </a:accent5>
      <a:accent6>
        <a:srgbClr val="F2994A"/>
      </a:accent6>
      <a:hlink>
        <a:srgbClr val="6C4DE6"/>
      </a:hlink>
      <a:folHlink>
        <a:srgbClr val="3B2A8C"/>
      </a:folHlink>
    </a:clrScheme>
    <a:fontScheme name="UV Guard Review 3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V Guard Review 3">
  <a:themeElements>
    <a:clrScheme name="UV Guard Review 3">
      <a:dk1>
        <a:srgbClr val="1B1240"/>
      </a:dk1>
      <a:lt1>
        <a:srgbClr val="FFFFFF"/>
      </a:lt1>
      <a:dk2>
        <a:srgbClr val="3B2A8C"/>
      </a:dk2>
      <a:lt2>
        <a:srgbClr val="F3F0FF"/>
      </a:lt2>
      <a:accent1>
        <a:srgbClr val="6C4DE6"/>
      </a:accent1>
      <a:accent2>
        <a:srgbClr val="F5A623"/>
      </a:accent2>
      <a:accent3>
        <a:srgbClr val="E8505B"/>
      </a:accent3>
      <a:accent4>
        <a:srgbClr val="2FB67C"/>
      </a:accent4>
      <a:accent5>
        <a:srgbClr val="F2C94C"/>
      </a:accent5>
      <a:accent6>
        <a:srgbClr val="F2994A"/>
      </a:accent6>
      <a:hlink>
        <a:srgbClr val="6C4DE6"/>
      </a:hlink>
      <a:folHlink>
        <a:srgbClr val="3B2A8C"/>
      </a:folHlink>
    </a:clrScheme>
    <a:fontScheme name="UV Guard Review 3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10111</Words>
  <Application>WPS Presentation</Application>
  <PresentationFormat>On-screen Show (16:9)</PresentationFormat>
  <Paragraphs>612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UV Guard Review 3</vt:lpstr>
      <vt:lpstr>PowerPoint 演示文稿</vt:lpstr>
      <vt:lpstr>Introduction</vt:lpstr>
      <vt:lpstr>Problem Statement</vt:lpstr>
      <vt:lpstr>Literature Survey</vt:lpstr>
      <vt:lpstr>Existing Solutions &amp; Gaps Analyzed</vt:lpstr>
      <vt:lpstr>Proposed Solution</vt:lpstr>
      <vt:lpstr>Proposed Work Plan</vt:lpstr>
      <vt:lpstr>Block Diagram</vt:lpstr>
      <vt:lpstr>Prototype Image (Hardware)</vt:lpstr>
      <vt:lpstr>Prototype Image (Software)</vt:lpstr>
      <vt:lpstr>Technology Stack Used</vt:lpstr>
      <vt:lpstr>Uniqueness Claimed</vt:lpstr>
      <vt:lpstr>Specifications: Hardware Components</vt:lpstr>
      <vt:lpstr>Specifications: Software</vt:lpstr>
      <vt:lpstr>Conclusions</vt:lpstr>
      <vt:lpstr>References</vt:lpstr>
      <vt:lpstr>Work Progress to Date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UV Guard - Project Review 3</dc:title>
  <dc:creator>Pravin A</dc:creator>
  <dc:subject>PptxGenJS Presentation</dc:subject>
  <cp:lastModifiedBy>pravi</cp:lastModifiedBy>
  <cp:revision>12</cp:revision>
  <dcterms:created xsi:type="dcterms:W3CDTF">2026-10-28T10:01:00Z</dcterms:created>
  <dcterms:modified xsi:type="dcterms:W3CDTF">2026-10-29T07:55:10Z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DBFD84471C3C44FE89AE72EBD017ECDB_12</vt:lpwstr>
  </property>
  <property fmtid="{D5CDD505-2E9C-101B-9397-08002B2CF9AE}" pid="3" name="KSOProductBuildVer">
    <vt:lpwstr>1033-12.1.0.29162</vt:lpwstr>
  </property>
</Properties>
</file>